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F06619-F15E-40E2-84F3-F13DFC7912E8}">
  <a:tblStyle styleId="{EBF06619-F15E-40E2-84F3-F13DFC7912E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82FC7FA-D89C-4C1D-A151-8E32F19231D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5e11d702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5e11d702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4a6414e4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4a6414e4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4a6414e4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4a6414e4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4a6414e4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4a6414e4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4a6414e4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4a6414e4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4a6414e4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4a6414e4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4a6414e4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4a6414e4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4a6414e4d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4a6414e4d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4a6414e4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4a6414e4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4a6414e4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4a6414e4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4a6414e4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4a6414e4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4a6414e4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4a6414e4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7104e66f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7104e66f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7104e66f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7104e66f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7104e66f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7104e66f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7104e66f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7104e66f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7104e66f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7104e66f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7104e66f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7104e66f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7104e66f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7104e66f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7104e66f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7104e66f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7104e66f1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97104e66f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7104e66f1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97104e66f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4a6414e4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d4a6414e4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d4a6414e4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d4a6414e4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4a6414e4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4a6414e4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7104e66f1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97104e66f1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97104e66f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97104e66f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7104e66f1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97104e66f1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7104e66f1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97104e66f1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7104e66f1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97104e66f1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b777b0d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db777b0d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b777b0d5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b777b0d5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b777b0d52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db777b0d5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ocs.google.com/spreadsheets/d/1G-IyFsPKcREhYpSnHB5K5I6FqkT5nugovNoqt0_0ggg/edit?gid=747042756#gid=74704275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ocs.google.com/spreadsheets/d/1G-IyFsPKcREhYpSnHB5K5I6FqkT5nugovNoqt0_0ggg/edit?gid=1338917898#gid=1338917898"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google.com/spreadsheets/d/1G-IyFsPKcREhYpSnHB5K5I6FqkT5nugovNoqt0_0ggg/edit?gid=2100224467#gid=2100224467"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812500"/>
            <a:ext cx="8520600" cy="984600"/>
          </a:xfrm>
          <a:prstGeom prst="rect">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rmAutofit/>
          </a:bodyPr>
          <a:lstStyle/>
          <a:p>
            <a:pPr indent="0" lvl="0" marL="0" rtl="0" algn="ctr">
              <a:spcBef>
                <a:spcPts val="0"/>
              </a:spcBef>
              <a:spcAft>
                <a:spcPts val="0"/>
              </a:spcAft>
              <a:buNone/>
            </a:pPr>
            <a:r>
              <a:rPr lang="ru"/>
              <a:t>Hotel Pricing System</a:t>
            </a:r>
            <a:endParaRPr/>
          </a:p>
        </p:txBody>
      </p:sp>
      <p:sp>
        <p:nvSpPr>
          <p:cNvPr id="55" name="Google Shape;55;p13"/>
          <p:cNvSpPr txBox="1"/>
          <p:nvPr/>
        </p:nvSpPr>
        <p:spPr>
          <a:xfrm>
            <a:off x="230775" y="2956425"/>
            <a:ext cx="883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2800">
                <a:solidFill>
                  <a:schemeClr val="dk1"/>
                </a:solidFill>
              </a:rPr>
              <a:t>From Student Submissions to Binary Evidence Tables</a:t>
            </a:r>
            <a:endParaRPr sz="2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From Student Submissions to Binary Evidence Tables</a:t>
            </a:r>
            <a:endParaRPr/>
          </a:p>
        </p:txBody>
      </p:sp>
      <p:sp>
        <p:nvSpPr>
          <p:cNvPr id="61" name="Google Shape;61;p14"/>
          <p:cNvSpPr txBox="1"/>
          <p:nvPr>
            <p:ph idx="1" type="body"/>
          </p:nvPr>
        </p:nvSpPr>
        <p:spPr>
          <a:xfrm>
            <a:off x="364325" y="899325"/>
            <a:ext cx="8832300" cy="3852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ru" sz="1600">
                <a:solidFill>
                  <a:schemeClr val="dk1"/>
                </a:solidFill>
              </a:rPr>
              <a:t>To answer the research questions, all student submissions were transformed into three binary evidence tables.</a:t>
            </a:r>
            <a:endParaRPr sz="1600">
              <a:solidFill>
                <a:schemeClr val="dk1"/>
              </a:solidFill>
            </a:endParaRPr>
          </a:p>
          <a:p>
            <a:pPr indent="0" lvl="0" marL="0" rtl="0" algn="l">
              <a:spcBef>
                <a:spcPts val="1200"/>
              </a:spcBef>
              <a:spcAft>
                <a:spcPts val="0"/>
              </a:spcAft>
              <a:buClr>
                <a:schemeClr val="dk1"/>
              </a:buClr>
              <a:buSzPts val="1100"/>
              <a:buFont typeface="Arial"/>
              <a:buNone/>
            </a:pPr>
            <a:r>
              <a:rPr lang="ru" sz="1600">
                <a:solidFill>
                  <a:schemeClr val="dk1"/>
                </a:solidFill>
              </a:rPr>
              <a:t>Each table captures a different analytical dimension:</a:t>
            </a:r>
            <a:endParaRPr sz="1600">
              <a:solidFill>
                <a:schemeClr val="dk1"/>
              </a:solidFill>
            </a:endParaRPr>
          </a:p>
          <a:p>
            <a:pPr indent="-330200" lvl="0" marL="457200" rtl="0" algn="l">
              <a:spcBef>
                <a:spcPts val="1200"/>
              </a:spcBef>
              <a:spcAft>
                <a:spcPts val="0"/>
              </a:spcAft>
              <a:buClr>
                <a:schemeClr val="dk1"/>
              </a:buClr>
              <a:buSzPts val="1600"/>
              <a:buChar char="●"/>
            </a:pPr>
            <a:r>
              <a:rPr b="1" lang="ru" sz="1600">
                <a:solidFill>
                  <a:schemeClr val="dk1"/>
                </a:solidFill>
              </a:rPr>
              <a:t>Table 1</a:t>
            </a:r>
            <a:r>
              <a:rPr lang="ru" sz="1600">
                <a:solidFill>
                  <a:schemeClr val="dk1"/>
                </a:solidFill>
              </a:rPr>
              <a:t> — quality-attribute coverage</a:t>
            </a:r>
            <a:endParaRPr sz="1600">
              <a:solidFill>
                <a:schemeClr val="dk1"/>
              </a:solidFill>
            </a:endParaRPr>
          </a:p>
          <a:p>
            <a:pPr indent="-330200" lvl="0" marL="457200" rtl="0" algn="l">
              <a:spcBef>
                <a:spcPts val="0"/>
              </a:spcBef>
              <a:spcAft>
                <a:spcPts val="0"/>
              </a:spcAft>
              <a:buClr>
                <a:schemeClr val="dk1"/>
              </a:buClr>
              <a:buSzPts val="1600"/>
              <a:buChar char="●"/>
            </a:pPr>
            <a:r>
              <a:rPr b="1" lang="ru" sz="1600">
                <a:solidFill>
                  <a:schemeClr val="dk1"/>
                </a:solidFill>
              </a:rPr>
              <a:t>Table 2</a:t>
            </a:r>
            <a:r>
              <a:rPr lang="ru" sz="1600">
                <a:solidFill>
                  <a:schemeClr val="dk1"/>
                </a:solidFill>
              </a:rPr>
              <a:t> — architectural solution categories</a:t>
            </a:r>
            <a:endParaRPr sz="1600">
              <a:solidFill>
                <a:schemeClr val="dk1"/>
              </a:solidFill>
            </a:endParaRPr>
          </a:p>
          <a:p>
            <a:pPr indent="-330200" lvl="0" marL="457200" rtl="0" algn="l">
              <a:spcBef>
                <a:spcPts val="0"/>
              </a:spcBef>
              <a:spcAft>
                <a:spcPts val="0"/>
              </a:spcAft>
              <a:buClr>
                <a:schemeClr val="dk1"/>
              </a:buClr>
              <a:buSzPts val="1600"/>
              <a:buChar char="●"/>
            </a:pPr>
            <a:r>
              <a:rPr b="1" lang="ru" sz="1600">
                <a:solidFill>
                  <a:schemeClr val="dk1"/>
                </a:solidFill>
              </a:rPr>
              <a:t>Table 3</a:t>
            </a:r>
            <a:r>
              <a:rPr lang="ru" sz="1600">
                <a:solidFill>
                  <a:schemeClr val="dk1"/>
                </a:solidFill>
              </a:rPr>
              <a:t> — traceability, justification, consistency, comparability, and effort</a:t>
            </a:r>
            <a:endParaRPr sz="1600">
              <a:solidFill>
                <a:schemeClr val="dk1"/>
              </a:solidFill>
            </a:endParaRPr>
          </a:p>
          <a:p>
            <a:pPr indent="0" lvl="0" marL="0" rtl="0" algn="l">
              <a:spcBef>
                <a:spcPts val="1200"/>
              </a:spcBef>
              <a:spcAft>
                <a:spcPts val="0"/>
              </a:spcAft>
              <a:buClr>
                <a:schemeClr val="dk1"/>
              </a:buClr>
              <a:buSzPts val="1100"/>
              <a:buFont typeface="Arial"/>
              <a:buNone/>
            </a:pPr>
            <a:r>
              <a:rPr lang="ru" sz="1600">
                <a:solidFill>
                  <a:schemeClr val="dk1"/>
                </a:solidFill>
              </a:rPr>
              <a:t>All indicators were encoded as:</a:t>
            </a:r>
            <a:endParaRPr sz="1600">
              <a:solidFill>
                <a:schemeClr val="dk1"/>
              </a:solidFill>
            </a:endParaRPr>
          </a:p>
          <a:p>
            <a:pPr indent="-330200" lvl="0" marL="457200" rtl="0" algn="l">
              <a:spcBef>
                <a:spcPts val="1200"/>
              </a:spcBef>
              <a:spcAft>
                <a:spcPts val="0"/>
              </a:spcAft>
              <a:buClr>
                <a:schemeClr val="dk1"/>
              </a:buClr>
              <a:buSzPts val="1600"/>
              <a:buChar char="●"/>
            </a:pPr>
            <a:r>
              <a:rPr b="1" lang="ru" sz="1600">
                <a:solidFill>
                  <a:schemeClr val="dk1"/>
                </a:solidFill>
              </a:rPr>
              <a:t>1</a:t>
            </a:r>
            <a:r>
              <a:rPr lang="ru" sz="1600">
                <a:solidFill>
                  <a:schemeClr val="dk1"/>
                </a:solidFill>
              </a:rPr>
              <a:t> — explicitly present and supported by the submitted artifact</a:t>
            </a:r>
            <a:endParaRPr sz="1600">
              <a:solidFill>
                <a:schemeClr val="dk1"/>
              </a:solidFill>
            </a:endParaRPr>
          </a:p>
          <a:p>
            <a:pPr indent="-330200" lvl="0" marL="457200" rtl="0" algn="l">
              <a:spcBef>
                <a:spcPts val="0"/>
              </a:spcBef>
              <a:spcAft>
                <a:spcPts val="0"/>
              </a:spcAft>
              <a:buClr>
                <a:schemeClr val="dk1"/>
              </a:buClr>
              <a:buSzPts val="1600"/>
              <a:buChar char="●"/>
            </a:pPr>
            <a:r>
              <a:rPr b="1" lang="ru" sz="1600">
                <a:solidFill>
                  <a:schemeClr val="dk1"/>
                </a:solidFill>
              </a:rPr>
              <a:t>0</a:t>
            </a:r>
            <a:r>
              <a:rPr lang="ru" sz="1600">
                <a:solidFill>
                  <a:schemeClr val="dk1"/>
                </a:solidFill>
              </a:rPr>
              <a:t> — absent, implicit, contradictory, weakly justified, or not reliably confirmable</a:t>
            </a:r>
            <a:endParaRPr sz="1600">
              <a:solidFill>
                <a:schemeClr val="dk1"/>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From Student Submissions to Binary Evidence Tables</a:t>
            </a:r>
            <a:endParaRPr/>
          </a:p>
        </p:txBody>
      </p:sp>
      <p:sp>
        <p:nvSpPr>
          <p:cNvPr id="67" name="Google Shape;67;p15"/>
          <p:cNvSpPr txBox="1"/>
          <p:nvPr>
            <p:ph idx="1" type="body"/>
          </p:nvPr>
        </p:nvSpPr>
        <p:spPr>
          <a:xfrm>
            <a:off x="364325" y="899325"/>
            <a:ext cx="8832300" cy="38520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i="1" lang="ru" sz="1600">
                <a:solidFill>
                  <a:srgbClr val="6AA84F"/>
                </a:solidFill>
              </a:rPr>
              <a:t>Первым шагом я перевела качественные студенческие артефакты в бинарные таблицы. Это было необходимо, потому что работы студентов были написаны в свободной форме и различались по стилю, глубине и структуре. Чтобы сравнивать ADD и ADD+k не интуитивно, а воспроизводимо, я зафиксировала наблюдаемые признаки в трёх таблицах. </a:t>
            </a:r>
            <a:endParaRPr i="1" sz="1600">
              <a:solidFill>
                <a:srgbClr val="6AA84F"/>
              </a:solidFill>
            </a:endParaRPr>
          </a:p>
          <a:p>
            <a:pPr indent="0" lvl="0" marL="457200" rtl="0" algn="l">
              <a:spcBef>
                <a:spcPts val="1200"/>
              </a:spcBef>
              <a:spcAft>
                <a:spcPts val="0"/>
              </a:spcAft>
              <a:buNone/>
            </a:pPr>
            <a:r>
              <a:rPr i="1" lang="ru" sz="1600">
                <a:solidFill>
                  <a:srgbClr val="6AA84F"/>
                </a:solidFill>
              </a:rPr>
              <a:t>Все признаки кодировались бинарно: 1 — если признак явно присутствует и подтверждён артефактом, 0 — если он отсутствует, выражен слишком слабо или не может быть надёжно подтверждён</a:t>
            </a:r>
            <a:endParaRPr i="1" sz="1600">
              <a:solidFill>
                <a:srgbClr val="6AA84F"/>
              </a:solidFill>
            </a:endParaRPr>
          </a:p>
          <a:p>
            <a:pPr indent="0" lvl="0" marL="457200" rtl="0" algn="l">
              <a:spcBef>
                <a:spcPts val="1200"/>
              </a:spcBef>
              <a:spcAft>
                <a:spcPts val="0"/>
              </a:spcAft>
              <a:buNone/>
            </a:pPr>
            <a:r>
              <a:rPr i="1" lang="ru" sz="1600">
                <a:solidFill>
                  <a:srgbClr val="6AA84F"/>
                </a:solidFill>
              </a:rPr>
              <a:t>Это делает анализ более строгим, повторяемым и удобным для агрегирования по методам. При этом важно: единица не означает, что решение идеально, а означает лишь, что признак явно зафиксирован и подтверждается материалом работы.</a:t>
            </a:r>
            <a:endParaRPr i="1" sz="1600">
              <a:solidFill>
                <a:srgbClr val="6AA84F"/>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u="sng">
                <a:solidFill>
                  <a:schemeClr val="hlink"/>
                </a:solidFill>
                <a:hlinkClick r:id="rId3"/>
              </a:rPr>
              <a:t>Table 1</a:t>
            </a:r>
            <a:r>
              <a:rPr lang="ru"/>
              <a:t>: Quality Attribute Coverage</a:t>
            </a:r>
            <a:endParaRPr/>
          </a:p>
        </p:txBody>
      </p:sp>
      <p:sp>
        <p:nvSpPr>
          <p:cNvPr id="73" name="Google Shape;73;p16"/>
          <p:cNvSpPr txBox="1"/>
          <p:nvPr>
            <p:ph idx="1" type="body"/>
          </p:nvPr>
        </p:nvSpPr>
        <p:spPr>
          <a:xfrm>
            <a:off x="364325" y="899325"/>
            <a:ext cx="8832300" cy="38520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lang="ru" sz="1600">
                <a:solidFill>
                  <a:schemeClr val="dk1"/>
                </a:solidFill>
              </a:rPr>
              <a:t>Table 1 records whether a submission explicitly supports relevant ISO/IEC 25010 quality subcharacteristics.</a:t>
            </a:r>
            <a:endParaRPr sz="1600">
              <a:solidFill>
                <a:schemeClr val="dk1"/>
              </a:solidFill>
            </a:endParaRPr>
          </a:p>
          <a:p>
            <a:pPr indent="0" lvl="0" marL="0" rtl="0" algn="l">
              <a:spcBef>
                <a:spcPts val="1200"/>
              </a:spcBef>
              <a:spcAft>
                <a:spcPts val="0"/>
              </a:spcAft>
              <a:buClr>
                <a:schemeClr val="dk1"/>
              </a:buClr>
              <a:buSzPts val="1100"/>
              <a:buFont typeface="Arial"/>
              <a:buNone/>
            </a:pPr>
            <a:r>
              <a:rPr lang="ru" sz="1100">
                <a:solidFill>
                  <a:schemeClr val="dk1"/>
                </a:solidFill>
              </a:rPr>
              <a:t>Examples of coded qualities include:</a:t>
            </a:r>
            <a:endParaRPr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performance efficiency</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reliability</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availability</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security</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maintainability</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testability</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interoperability</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functional suitability</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Coding principle:</a:t>
            </a:r>
            <a:br>
              <a:rPr b="1" lang="ru" sz="1100">
                <a:solidFill>
                  <a:schemeClr val="dk1"/>
                </a:solidFill>
              </a:rPr>
            </a:br>
            <a:r>
              <a:rPr lang="ru" sz="1100">
                <a:solidFill>
                  <a:schemeClr val="dk1"/>
                </a:solidFill>
              </a:rPr>
              <a:t> A quality attribute was marked as present only if the architectural artifact provided explicit architectural support for it.</a:t>
            </a:r>
            <a:endParaRPr sz="1100">
              <a:solidFill>
                <a:schemeClr val="dk1"/>
              </a:solidFill>
            </a:endParaRPr>
          </a:p>
          <a:p>
            <a:pPr indent="0" lvl="0" marL="0" rtl="0" algn="l">
              <a:spcBef>
                <a:spcPts val="1200"/>
              </a:spcBef>
              <a:spcAft>
                <a:spcPts val="0"/>
              </a:spcAft>
              <a:buClr>
                <a:schemeClr val="dk1"/>
              </a:buClr>
              <a:buSzPts val="1100"/>
              <a:buFont typeface="Arial"/>
              <a:buNone/>
            </a:pPr>
            <a:r>
              <a:rPr b="1" lang="ru" sz="1100">
                <a:solidFill>
                  <a:schemeClr val="dk1"/>
                </a:solidFill>
              </a:rPr>
              <a:t>Purpose:</a:t>
            </a:r>
            <a:br>
              <a:rPr b="1" lang="ru" sz="1100">
                <a:solidFill>
                  <a:schemeClr val="dk1"/>
                </a:solidFill>
              </a:rPr>
            </a:br>
            <a:r>
              <a:rPr lang="ru" sz="1100">
                <a:solidFill>
                  <a:schemeClr val="dk1"/>
                </a:solidFill>
              </a:rPr>
              <a:t> To measure how broadly and explicitly each student solution addresses architecturally relevant quality concerns.</a:t>
            </a:r>
            <a:endParaRPr sz="1100">
              <a:solidFill>
                <a:schemeClr val="dk1"/>
              </a:solidFill>
            </a:endParaRPr>
          </a:p>
          <a:p>
            <a:pPr indent="0" lvl="0" marL="457200" rtl="0" algn="l">
              <a:spcBef>
                <a:spcPts val="1200"/>
              </a:spcBef>
              <a:spcAft>
                <a:spcPts val="0"/>
              </a:spcAft>
              <a:buNone/>
            </a:pPr>
            <a:r>
              <a:t/>
            </a:r>
            <a:endParaRPr sz="1600">
              <a:solidFill>
                <a:schemeClr val="dk1"/>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From Student Submissions to Binary Evidence Tables</a:t>
            </a:r>
            <a:endParaRPr/>
          </a:p>
        </p:txBody>
      </p:sp>
      <p:sp>
        <p:nvSpPr>
          <p:cNvPr id="79" name="Google Shape;79;p17"/>
          <p:cNvSpPr txBox="1"/>
          <p:nvPr>
            <p:ph idx="1" type="body"/>
          </p:nvPr>
        </p:nvSpPr>
        <p:spPr>
          <a:xfrm>
            <a:off x="364325" y="899325"/>
            <a:ext cx="8832300" cy="38520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i="1" lang="ru" sz="1600">
                <a:solidFill>
                  <a:srgbClr val="6AA84F"/>
                </a:solidFill>
              </a:rPr>
              <a:t>Первая таблица отвечает на вопрос: какие качественные характеристики архитектура действительно поддерживает. </a:t>
            </a:r>
            <a:endParaRPr i="1" sz="1600">
              <a:solidFill>
                <a:srgbClr val="6AA84F"/>
              </a:solidFill>
            </a:endParaRPr>
          </a:p>
          <a:p>
            <a:pPr indent="0" lvl="0" marL="457200" rtl="0" algn="l">
              <a:spcBef>
                <a:spcPts val="1200"/>
              </a:spcBef>
              <a:spcAft>
                <a:spcPts val="0"/>
              </a:spcAft>
              <a:buNone/>
            </a:pPr>
            <a:r>
              <a:rPr i="1" lang="ru" sz="1600">
                <a:solidFill>
                  <a:srgbClr val="6AA84F"/>
                </a:solidFill>
              </a:rPr>
              <a:t>Эта таблица нужна потому, что архитектуры могут быть очень разными по стилю, но сравнивать их всё равно нужно по тому, насколько они закрывают значимые аттрибуты. Иначе можно случайно сравнивать только внешний вид решения, а не его архитектурную состоятельность. Таблица позволяет увидеть, насколько архитектура действительно поддерживает заявленные свойства, а не просто декларирует их</a:t>
            </a:r>
            <a:endParaRPr i="1" sz="1600">
              <a:solidFill>
                <a:srgbClr val="6AA84F"/>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Quality Attribute Coverage Results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Clr>
                <a:schemeClr val="dk1"/>
              </a:buClr>
              <a:buSzPct val="68403"/>
              <a:buFont typeface="Arial"/>
              <a:buNone/>
            </a:pPr>
            <a:r>
              <a:rPr lang="ru" sz="1608">
                <a:solidFill>
                  <a:schemeClr val="dk1"/>
                </a:solidFill>
              </a:rPr>
              <a:t>For each student, the total number of explicitly supported quality subcharacteristics was calculated from Table 1.</a:t>
            </a:r>
            <a:endParaRPr sz="1608">
              <a:solidFill>
                <a:schemeClr val="dk1"/>
              </a:solidFill>
            </a:endParaRPr>
          </a:p>
          <a:p>
            <a:pPr indent="0" lvl="0" marL="0" rtl="0" algn="l">
              <a:spcBef>
                <a:spcPts val="1200"/>
              </a:spcBef>
              <a:spcAft>
                <a:spcPts val="0"/>
              </a:spcAft>
              <a:buClr>
                <a:schemeClr val="dk1"/>
              </a:buClr>
              <a:buSzPct val="68403"/>
              <a:buFont typeface="Arial"/>
              <a:buNone/>
            </a:pPr>
            <a:r>
              <a:rPr b="1" lang="ru" sz="1608">
                <a:solidFill>
                  <a:schemeClr val="dk1"/>
                </a:solidFill>
              </a:rPr>
              <a:t>Mean quality-attribute coverage:</a:t>
            </a:r>
            <a:endParaRPr b="1" sz="1608">
              <a:solidFill>
                <a:schemeClr val="dk1"/>
              </a:solidFill>
            </a:endParaRPr>
          </a:p>
          <a:p>
            <a:pPr indent="-315398" lvl="0" marL="457200" rtl="0" algn="l">
              <a:spcBef>
                <a:spcPts val="1200"/>
              </a:spcBef>
              <a:spcAft>
                <a:spcPts val="0"/>
              </a:spcAft>
              <a:buClr>
                <a:schemeClr val="dk1"/>
              </a:buClr>
              <a:buSzPct val="100000"/>
              <a:buChar char="●"/>
            </a:pPr>
            <a:r>
              <a:rPr b="1" lang="ru" sz="1608">
                <a:solidFill>
                  <a:schemeClr val="dk1"/>
                </a:solidFill>
              </a:rPr>
              <a:t>ADD:</a:t>
            </a:r>
            <a:r>
              <a:rPr lang="ru" sz="1608">
                <a:solidFill>
                  <a:schemeClr val="dk1"/>
                </a:solidFill>
              </a:rPr>
              <a:t> 11.60</a:t>
            </a:r>
            <a:endParaRPr sz="1608">
              <a:solidFill>
                <a:schemeClr val="dk1"/>
              </a:solidFill>
            </a:endParaRPr>
          </a:p>
          <a:p>
            <a:pPr indent="-315398" lvl="0" marL="457200" rtl="0" algn="l">
              <a:spcBef>
                <a:spcPts val="0"/>
              </a:spcBef>
              <a:spcAft>
                <a:spcPts val="0"/>
              </a:spcAft>
              <a:buClr>
                <a:schemeClr val="dk1"/>
              </a:buClr>
              <a:buSzPct val="100000"/>
              <a:buChar char="●"/>
            </a:pPr>
            <a:r>
              <a:rPr b="1" lang="ru" sz="1608">
                <a:solidFill>
                  <a:schemeClr val="dk1"/>
                </a:solidFill>
              </a:rPr>
              <a:t>ADD+k:</a:t>
            </a:r>
            <a:r>
              <a:rPr lang="ru" sz="1608">
                <a:solidFill>
                  <a:schemeClr val="dk1"/>
                </a:solidFill>
              </a:rPr>
              <a:t> 13.75</a:t>
            </a:r>
            <a:endParaRPr sz="1608">
              <a:solidFill>
                <a:schemeClr val="dk1"/>
              </a:solidFill>
            </a:endParaRPr>
          </a:p>
          <a:p>
            <a:pPr indent="0" lvl="0" marL="0" rtl="0" algn="l">
              <a:spcBef>
                <a:spcPts val="1200"/>
              </a:spcBef>
              <a:spcAft>
                <a:spcPts val="0"/>
              </a:spcAft>
              <a:buClr>
                <a:schemeClr val="dk1"/>
              </a:buClr>
              <a:buSzPct val="68403"/>
              <a:buFont typeface="Arial"/>
              <a:buNone/>
            </a:pPr>
            <a:r>
              <a:rPr b="1" lang="ru" sz="1608">
                <a:solidFill>
                  <a:schemeClr val="dk1"/>
                </a:solidFill>
              </a:rPr>
              <a:t>Difference:</a:t>
            </a:r>
            <a:endParaRPr b="1" sz="1608">
              <a:solidFill>
                <a:schemeClr val="dk1"/>
              </a:solidFill>
            </a:endParaRPr>
          </a:p>
          <a:p>
            <a:pPr indent="-315398" lvl="0" marL="457200" rtl="0" algn="l">
              <a:spcBef>
                <a:spcPts val="1200"/>
              </a:spcBef>
              <a:spcAft>
                <a:spcPts val="0"/>
              </a:spcAft>
              <a:buClr>
                <a:schemeClr val="dk1"/>
              </a:buClr>
              <a:buSzPct val="100000"/>
              <a:buChar char="●"/>
            </a:pPr>
            <a:r>
              <a:rPr b="1" lang="ru" sz="1608">
                <a:solidFill>
                  <a:schemeClr val="dk1"/>
                </a:solidFill>
              </a:rPr>
              <a:t>Δ = +2.15</a:t>
            </a:r>
            <a:r>
              <a:rPr lang="ru" sz="1608">
                <a:solidFill>
                  <a:schemeClr val="dk1"/>
                </a:solidFill>
              </a:rPr>
              <a:t> in favor of </a:t>
            </a:r>
            <a:r>
              <a:rPr b="1" lang="ru" sz="1608">
                <a:solidFill>
                  <a:schemeClr val="dk1"/>
                </a:solidFill>
              </a:rPr>
              <a:t>ADD+k</a:t>
            </a:r>
            <a:endParaRPr b="1" sz="1608">
              <a:solidFill>
                <a:schemeClr val="dk1"/>
              </a:solidFill>
            </a:endParaRPr>
          </a:p>
          <a:p>
            <a:pPr indent="0" lvl="0" marL="0" rtl="0" algn="l">
              <a:spcBef>
                <a:spcPts val="1200"/>
              </a:spcBef>
              <a:spcAft>
                <a:spcPts val="0"/>
              </a:spcAft>
              <a:buClr>
                <a:schemeClr val="dk1"/>
              </a:buClr>
              <a:buSzPct val="68403"/>
              <a:buFont typeface="Arial"/>
              <a:buNone/>
            </a:pPr>
            <a:r>
              <a:rPr b="1" lang="ru" sz="1608">
                <a:solidFill>
                  <a:schemeClr val="dk1"/>
                </a:solidFill>
              </a:rPr>
              <a:t>Interpretation:</a:t>
            </a:r>
            <a:br>
              <a:rPr b="1" lang="ru" sz="1608">
                <a:solidFill>
                  <a:schemeClr val="dk1"/>
                </a:solidFill>
              </a:rPr>
            </a:br>
            <a:r>
              <a:rPr lang="ru" sz="1608">
                <a:solidFill>
                  <a:schemeClr val="dk1"/>
                </a:solidFill>
              </a:rPr>
              <a:t> ADD+k student submissions explicitly covered a broader set of relevant quality subcharacteristics than basic ADD submissions</a:t>
            </a:r>
            <a:endParaRPr sz="1608">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 </a:t>
            </a:r>
            <a:r>
              <a:rPr lang="ru" u="sng">
                <a:solidFill>
                  <a:schemeClr val="hlink"/>
                </a:solidFill>
                <a:hlinkClick r:id="rId3"/>
              </a:rPr>
              <a:t>Table 2</a:t>
            </a:r>
            <a:r>
              <a:rPr lang="ru"/>
              <a:t>: Architectural Solution Categories</a:t>
            </a:r>
            <a:endParaRPr/>
          </a:p>
        </p:txBody>
      </p:sp>
      <p:sp>
        <p:nvSpPr>
          <p:cNvPr id="91" name="Google Shape;91;p19"/>
          <p:cNvSpPr txBox="1"/>
          <p:nvPr>
            <p:ph idx="1" type="body"/>
          </p:nvPr>
        </p:nvSpPr>
        <p:spPr>
          <a:xfrm>
            <a:off x="364325" y="899325"/>
            <a:ext cx="8832300" cy="3852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ru" sz="1400">
                <a:solidFill>
                  <a:schemeClr val="dk1"/>
                </a:solidFill>
              </a:rPr>
              <a:t>Table 2 records whether a submission includes a meaningful architectural mechanism belonging to a generalized solution category.</a:t>
            </a:r>
            <a:endParaRPr sz="1400">
              <a:solidFill>
                <a:schemeClr val="dk1"/>
              </a:solidFill>
            </a:endParaRPr>
          </a:p>
          <a:p>
            <a:pPr indent="0" lvl="0" marL="0" rtl="0" algn="l">
              <a:spcBef>
                <a:spcPts val="1200"/>
              </a:spcBef>
              <a:spcAft>
                <a:spcPts val="0"/>
              </a:spcAft>
              <a:buNone/>
            </a:pPr>
            <a:r>
              <a:rPr lang="ru" sz="1400">
                <a:solidFill>
                  <a:schemeClr val="dk1"/>
                </a:solidFill>
              </a:rPr>
              <a:t>These categories were </a:t>
            </a:r>
            <a:r>
              <a:rPr b="1" lang="ru" sz="1400">
                <a:solidFill>
                  <a:schemeClr val="dk1"/>
                </a:solidFill>
              </a:rPr>
              <a:t>not invented arbitrarily</a:t>
            </a:r>
            <a:r>
              <a:rPr lang="ru" sz="1400">
                <a:solidFill>
                  <a:schemeClr val="dk1"/>
                </a:solidFill>
              </a:rPr>
              <a:t>.</a:t>
            </a:r>
            <a:br>
              <a:rPr lang="ru" sz="1400">
                <a:solidFill>
                  <a:schemeClr val="dk1"/>
                </a:solidFill>
              </a:rPr>
            </a:br>
            <a:r>
              <a:rPr lang="ru" sz="1400">
                <a:solidFill>
                  <a:schemeClr val="dk1"/>
                </a:solidFill>
              </a:rPr>
              <a:t> They were derived by abstracting the reference architectural decisions from the Cervantes HPS design.</a:t>
            </a:r>
            <a:endParaRPr sz="1400">
              <a:solidFill>
                <a:schemeClr val="dk1"/>
              </a:solidFill>
            </a:endParaRPr>
          </a:p>
          <a:p>
            <a:pPr indent="0" lvl="0" marL="0" rtl="0" algn="l">
              <a:spcBef>
                <a:spcPts val="1200"/>
              </a:spcBef>
              <a:spcAft>
                <a:spcPts val="0"/>
              </a:spcAft>
              <a:buNone/>
            </a:pPr>
            <a:r>
              <a:rPr b="1" lang="ru" sz="1400">
                <a:solidFill>
                  <a:schemeClr val="dk1"/>
                </a:solidFill>
              </a:rPr>
              <a:t>Important principle:</a:t>
            </a:r>
            <a:br>
              <a:rPr b="1" lang="ru" sz="1400">
                <a:solidFill>
                  <a:schemeClr val="dk1"/>
                </a:solidFill>
              </a:rPr>
            </a:br>
            <a:r>
              <a:rPr lang="ru" sz="1400">
                <a:solidFill>
                  <a:schemeClr val="dk1"/>
                </a:solidFill>
              </a:rPr>
              <a:t> The comparison was performed </a:t>
            </a:r>
            <a:r>
              <a:rPr b="1" lang="ru" sz="1400">
                <a:solidFill>
                  <a:schemeClr val="dk1"/>
                </a:solidFill>
              </a:rPr>
              <a:t>not at the level of technologies</a:t>
            </a:r>
            <a:r>
              <a:rPr lang="ru" sz="1400">
                <a:solidFill>
                  <a:schemeClr val="dk1"/>
                </a:solidFill>
              </a:rPr>
              <a:t>, but at the level of </a:t>
            </a:r>
            <a:r>
              <a:rPr b="1" lang="ru" sz="1400">
                <a:solidFill>
                  <a:schemeClr val="dk1"/>
                </a:solidFill>
              </a:rPr>
              <a:t>architectural function</a:t>
            </a:r>
            <a:r>
              <a:rPr lang="ru" sz="1400">
                <a:solidFill>
                  <a:schemeClr val="dk1"/>
                </a:solidFill>
              </a:rPr>
              <a:t>.</a:t>
            </a:r>
            <a:endParaRPr sz="1400">
              <a:solidFill>
                <a:schemeClr val="dk1"/>
              </a:solidFill>
            </a:endParaRPr>
          </a:p>
          <a:p>
            <a:pPr indent="0" lvl="0" marL="0" rtl="0" algn="l">
              <a:spcBef>
                <a:spcPts val="1200"/>
              </a:spcBef>
              <a:spcAft>
                <a:spcPts val="0"/>
              </a:spcAft>
              <a:buNone/>
            </a:pPr>
            <a:r>
              <a:rPr lang="ru" sz="1400">
                <a:solidFill>
                  <a:schemeClr val="dk1"/>
                </a:solidFill>
              </a:rPr>
              <a:t>Example:</a:t>
            </a:r>
            <a:endParaRPr sz="1400">
              <a:solidFill>
                <a:schemeClr val="dk1"/>
              </a:solidFill>
            </a:endParaRPr>
          </a:p>
          <a:p>
            <a:pPr indent="-317500" lvl="0" marL="457200" rtl="0" algn="l">
              <a:spcBef>
                <a:spcPts val="1200"/>
              </a:spcBef>
              <a:spcAft>
                <a:spcPts val="0"/>
              </a:spcAft>
              <a:buClr>
                <a:schemeClr val="dk1"/>
              </a:buClr>
              <a:buSzPts val="1400"/>
              <a:buChar char="●"/>
            </a:pPr>
            <a:r>
              <a:rPr lang="ru" sz="1400">
                <a:solidFill>
                  <a:schemeClr val="dk1"/>
                </a:solidFill>
              </a:rPr>
              <a:t>not “Kafka” as a product</a:t>
            </a:r>
            <a:endParaRPr sz="1400">
              <a:solidFill>
                <a:schemeClr val="dk1"/>
              </a:solidFill>
            </a:endParaRPr>
          </a:p>
          <a:p>
            <a:pPr indent="-317500" lvl="0" marL="457200" rtl="0" algn="l">
              <a:spcBef>
                <a:spcPts val="0"/>
              </a:spcBef>
              <a:spcAft>
                <a:spcPts val="0"/>
              </a:spcAft>
              <a:buClr>
                <a:schemeClr val="dk1"/>
              </a:buClr>
              <a:buSzPts val="1400"/>
              <a:buChar char="●"/>
            </a:pPr>
            <a:r>
              <a:rPr lang="ru" sz="1400">
                <a:solidFill>
                  <a:schemeClr val="dk1"/>
                </a:solidFill>
              </a:rPr>
              <a:t>but “durable event mechanism” as an architectural category</a:t>
            </a:r>
            <a:endParaRPr sz="1400">
              <a:solidFill>
                <a:schemeClr val="dk1"/>
              </a:solidFill>
            </a:endParaRPr>
          </a:p>
          <a:p>
            <a:pPr indent="0" lvl="0" marL="0" rtl="0" algn="l">
              <a:spcBef>
                <a:spcPts val="1200"/>
              </a:spcBef>
              <a:spcAft>
                <a:spcPts val="0"/>
              </a:spcAft>
              <a:buNone/>
            </a:pPr>
            <a:r>
              <a:rPr b="1" lang="ru" sz="1400">
                <a:solidFill>
                  <a:schemeClr val="dk1"/>
                </a:solidFill>
              </a:rPr>
              <a:t>Purpose:</a:t>
            </a:r>
            <a:br>
              <a:rPr b="1" lang="ru" sz="1400">
                <a:solidFill>
                  <a:schemeClr val="dk1"/>
                </a:solidFill>
              </a:rPr>
            </a:br>
            <a:r>
              <a:rPr lang="ru" sz="1400">
                <a:solidFill>
                  <a:schemeClr val="dk1"/>
                </a:solidFill>
              </a:rPr>
              <a:t> To compare student architectures through a shared and method-independent vocabulary of architectural solutions.</a:t>
            </a:r>
            <a:endParaRPr sz="1400">
              <a:solidFill>
                <a:schemeClr val="dk1"/>
              </a:solidFill>
            </a:endParaRPr>
          </a:p>
          <a:p>
            <a:pPr indent="0" lvl="0" marL="0" rtl="0" algn="l">
              <a:spcBef>
                <a:spcPts val="1200"/>
              </a:spcBef>
              <a:spcAft>
                <a:spcPts val="0"/>
              </a:spcAft>
              <a:buNone/>
            </a:pPr>
            <a:r>
              <a:t/>
            </a:r>
            <a:endParaRPr sz="1600">
              <a:solidFill>
                <a:schemeClr val="dk1"/>
              </a:solidFill>
            </a:endParaRPr>
          </a:p>
          <a:p>
            <a:pPr indent="0" lvl="0" marL="457200" rtl="0" algn="l">
              <a:spcBef>
                <a:spcPts val="1200"/>
              </a:spcBef>
              <a:spcAft>
                <a:spcPts val="0"/>
              </a:spcAft>
              <a:buNone/>
            </a:pPr>
            <a:r>
              <a:t/>
            </a:r>
            <a:endParaRPr sz="1600">
              <a:solidFill>
                <a:schemeClr val="dk1"/>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From Student Submissions to Binary Evidence Tables</a:t>
            </a:r>
            <a:endParaRPr/>
          </a:p>
        </p:txBody>
      </p:sp>
      <p:sp>
        <p:nvSpPr>
          <p:cNvPr id="97" name="Google Shape;97;p20"/>
          <p:cNvSpPr txBox="1"/>
          <p:nvPr>
            <p:ph idx="1" type="body"/>
          </p:nvPr>
        </p:nvSpPr>
        <p:spPr>
          <a:xfrm>
            <a:off x="364325" y="899325"/>
            <a:ext cx="8832300" cy="38520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i="1" lang="ru" sz="1600">
                <a:solidFill>
                  <a:srgbClr val="6AA84F"/>
                </a:solidFill>
              </a:rPr>
              <a:t>Вторая таблица была особенно важна, потому что она позволяла сравнивать архитектуры не по конкретным технологиям, а по архитектурной функции решений. Например, меня интересовало не использовал ли студент именно Kafka, а реализовал ли он устойчивый механизм передачи и хранения событий. Это принципиально, потому что иначе сравнение быстро вырождается в сравнение технологических предпочтений, а не архитектурных решений.</a:t>
            </a:r>
            <a:endParaRPr i="1" sz="1600">
              <a:solidFill>
                <a:srgbClr val="6AA84F"/>
              </a:solidFill>
            </a:endParaRPr>
          </a:p>
          <a:p>
            <a:pPr indent="0" lvl="0" marL="457200" rtl="0" algn="l">
              <a:spcBef>
                <a:spcPts val="1200"/>
              </a:spcBef>
              <a:spcAft>
                <a:spcPts val="0"/>
              </a:spcAft>
              <a:buNone/>
            </a:pPr>
            <a:r>
              <a:rPr i="1" lang="ru" sz="1600">
                <a:solidFill>
                  <a:srgbClr val="6AA84F"/>
                </a:solidFill>
              </a:rPr>
              <a:t>Категории были выведены из эталонного решения Cervantes, потому что именно оно задаёт наиболее полный и методически чистый пример ADD для HPS. Но сравнение шло не по буквальному совпадению с эталоном. Наоборот, решения эталона были обобщены до уровня архитектурных функций. Это позволило сохранить смысл эталона, но не условно “наказывать” студентов за выбор других технологий или других обозначений на диаграммах.  Я не оценивала, насколько студент буквально повторил эталон по книге Cervantes. Я оценивала, использует ли он архитектурно эквивалентный механизм.</a:t>
            </a:r>
            <a:endParaRPr i="1" sz="1600">
              <a:solidFill>
                <a:srgbClr val="6AA84F"/>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Architectural Solution Category Coverage Results</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7500" lnSpcReduction="10000"/>
          </a:bodyPr>
          <a:lstStyle/>
          <a:p>
            <a:pPr indent="0" lvl="0" marL="0" rtl="0" algn="l">
              <a:spcBef>
                <a:spcPts val="1200"/>
              </a:spcBef>
              <a:spcAft>
                <a:spcPts val="0"/>
              </a:spcAft>
              <a:buNone/>
            </a:pPr>
            <a:r>
              <a:rPr lang="ru" sz="2510">
                <a:solidFill>
                  <a:schemeClr val="dk1"/>
                </a:solidFill>
              </a:rPr>
              <a:t>For each student, the number of architectural solution categories covered in at least one of the three iterations was calculated from Table 2.</a:t>
            </a:r>
            <a:endParaRPr sz="2510">
              <a:solidFill>
                <a:schemeClr val="dk1"/>
              </a:solidFill>
            </a:endParaRPr>
          </a:p>
          <a:p>
            <a:pPr indent="0" lvl="0" marL="0" rtl="0" algn="l">
              <a:spcBef>
                <a:spcPts val="1200"/>
              </a:spcBef>
              <a:spcAft>
                <a:spcPts val="0"/>
              </a:spcAft>
              <a:buNone/>
            </a:pPr>
            <a:r>
              <a:rPr b="1" lang="ru" sz="2510">
                <a:solidFill>
                  <a:schemeClr val="dk1"/>
                </a:solidFill>
              </a:rPr>
              <a:t>Mean total categories covered:</a:t>
            </a:r>
            <a:endParaRPr b="1" sz="2510">
              <a:solidFill>
                <a:schemeClr val="dk1"/>
              </a:solidFill>
            </a:endParaRPr>
          </a:p>
          <a:p>
            <a:pPr indent="-304317" lvl="0" marL="457200" rtl="0" algn="l">
              <a:spcBef>
                <a:spcPts val="1200"/>
              </a:spcBef>
              <a:spcAft>
                <a:spcPts val="0"/>
              </a:spcAft>
              <a:buClr>
                <a:schemeClr val="dk1"/>
              </a:buClr>
              <a:buSzPct val="100000"/>
              <a:buChar char="●"/>
            </a:pPr>
            <a:r>
              <a:rPr b="1" lang="ru" sz="2510">
                <a:solidFill>
                  <a:schemeClr val="dk1"/>
                </a:solidFill>
              </a:rPr>
              <a:t>ADD:</a:t>
            </a:r>
            <a:r>
              <a:rPr lang="ru" sz="2510">
                <a:solidFill>
                  <a:schemeClr val="dk1"/>
                </a:solidFill>
              </a:rPr>
              <a:t> 12.60</a:t>
            </a:r>
            <a:endParaRPr sz="2510">
              <a:solidFill>
                <a:schemeClr val="dk1"/>
              </a:solidFill>
            </a:endParaRPr>
          </a:p>
          <a:p>
            <a:pPr indent="-304317" lvl="0" marL="457200" rtl="0" algn="l">
              <a:spcBef>
                <a:spcPts val="0"/>
              </a:spcBef>
              <a:spcAft>
                <a:spcPts val="0"/>
              </a:spcAft>
              <a:buClr>
                <a:schemeClr val="dk1"/>
              </a:buClr>
              <a:buSzPct val="100000"/>
              <a:buChar char="●"/>
            </a:pPr>
            <a:r>
              <a:rPr b="1" lang="ru" sz="2510">
                <a:solidFill>
                  <a:schemeClr val="dk1"/>
                </a:solidFill>
              </a:rPr>
              <a:t>ADD+k:</a:t>
            </a:r>
            <a:r>
              <a:rPr lang="ru" sz="2510">
                <a:solidFill>
                  <a:schemeClr val="dk1"/>
                </a:solidFill>
              </a:rPr>
              <a:t> 12.33</a:t>
            </a:r>
            <a:endParaRPr sz="2510">
              <a:solidFill>
                <a:schemeClr val="dk1"/>
              </a:solidFill>
            </a:endParaRPr>
          </a:p>
          <a:p>
            <a:pPr indent="0" lvl="0" marL="0" rtl="0" algn="l">
              <a:spcBef>
                <a:spcPts val="1200"/>
              </a:spcBef>
              <a:spcAft>
                <a:spcPts val="0"/>
              </a:spcAft>
              <a:buNone/>
            </a:pPr>
            <a:r>
              <a:rPr b="1" lang="ru" sz="2510">
                <a:solidFill>
                  <a:schemeClr val="dk1"/>
                </a:solidFill>
              </a:rPr>
              <a:t>Difference:</a:t>
            </a:r>
            <a:endParaRPr b="1" sz="2510">
              <a:solidFill>
                <a:schemeClr val="dk1"/>
              </a:solidFill>
            </a:endParaRPr>
          </a:p>
          <a:p>
            <a:pPr indent="-304317" lvl="0" marL="457200" rtl="0" algn="l">
              <a:spcBef>
                <a:spcPts val="1200"/>
              </a:spcBef>
              <a:spcAft>
                <a:spcPts val="0"/>
              </a:spcAft>
              <a:buClr>
                <a:schemeClr val="dk1"/>
              </a:buClr>
              <a:buSzPct val="100000"/>
              <a:buChar char="●"/>
            </a:pPr>
            <a:r>
              <a:rPr b="1" lang="ru" sz="2510">
                <a:solidFill>
                  <a:schemeClr val="dk1"/>
                </a:solidFill>
              </a:rPr>
              <a:t>Δ = −0.27</a:t>
            </a:r>
            <a:r>
              <a:rPr lang="ru" sz="2510">
                <a:solidFill>
                  <a:schemeClr val="dk1"/>
                </a:solidFill>
              </a:rPr>
              <a:t> in favor of </a:t>
            </a:r>
            <a:r>
              <a:rPr b="1" lang="ru" sz="2510">
                <a:solidFill>
                  <a:schemeClr val="dk1"/>
                </a:solidFill>
              </a:rPr>
              <a:t>ADD</a:t>
            </a:r>
            <a:endParaRPr b="1" sz="2510">
              <a:solidFill>
                <a:schemeClr val="dk1"/>
              </a:solidFill>
            </a:endParaRPr>
          </a:p>
          <a:p>
            <a:pPr indent="0" lvl="0" marL="0" rtl="0" algn="l">
              <a:spcBef>
                <a:spcPts val="1200"/>
              </a:spcBef>
              <a:spcAft>
                <a:spcPts val="0"/>
              </a:spcAft>
              <a:buNone/>
            </a:pPr>
            <a:r>
              <a:rPr b="1" lang="ru" sz="2510">
                <a:solidFill>
                  <a:schemeClr val="dk1"/>
                </a:solidFill>
              </a:rPr>
              <a:t>Interpretation:</a:t>
            </a:r>
            <a:br>
              <a:rPr b="1" lang="ru" sz="2510">
                <a:solidFill>
                  <a:schemeClr val="dk1"/>
                </a:solidFill>
              </a:rPr>
            </a:br>
            <a:r>
              <a:rPr lang="ru" sz="2510">
                <a:solidFill>
                  <a:schemeClr val="dk1"/>
                </a:solidFill>
              </a:rPr>
              <a:t> ADD+k did not increase the number of represented architectural solution categories.</a:t>
            </a:r>
            <a:br>
              <a:rPr lang="ru" sz="2510">
                <a:solidFill>
                  <a:schemeClr val="dk1"/>
                </a:solidFill>
              </a:rPr>
            </a:br>
            <a:r>
              <a:rPr lang="ru" sz="2510">
                <a:solidFill>
                  <a:schemeClr val="dk1"/>
                </a:solidFill>
              </a:rPr>
              <a:t> The two methods are very close on this dimension, with a slight advantage for basic ADD.</a:t>
            </a:r>
            <a:endParaRPr sz="2510">
              <a:solidFill>
                <a:schemeClr val="dk1"/>
              </a:solidFill>
            </a:endParaRPr>
          </a:p>
          <a:p>
            <a:pPr indent="0" lvl="0" marL="0" rtl="0" algn="l">
              <a:spcBef>
                <a:spcPts val="1200"/>
              </a:spcBef>
              <a:spcAft>
                <a:spcPts val="0"/>
              </a:spcAft>
              <a:buNone/>
            </a:pPr>
            <a:r>
              <a:t/>
            </a:r>
            <a:endParaRPr sz="1608">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Clr>
                <a:schemeClr val="dk1"/>
              </a:buClr>
              <a:buSzPct val="47826"/>
              <a:buFont typeface="Arial"/>
              <a:buNone/>
            </a:pPr>
            <a:r>
              <a:rPr b="1" lang="ru" sz="2300" u="sng">
                <a:solidFill>
                  <a:schemeClr val="hlink"/>
                </a:solidFill>
                <a:hlinkClick r:id="rId3"/>
              </a:rPr>
              <a:t>Table 3 </a:t>
            </a:r>
            <a:r>
              <a:rPr b="1" lang="ru" sz="2300"/>
              <a:t>— Research-Oriented Evaluation Metrics</a:t>
            </a:r>
            <a:endParaRPr b="1" sz="2300"/>
          </a:p>
          <a:p>
            <a:pPr indent="0" lvl="0" marL="0" rtl="0" algn="l">
              <a:spcBef>
                <a:spcPts val="600"/>
              </a:spcBef>
              <a:spcAft>
                <a:spcPts val="0"/>
              </a:spcAft>
              <a:buNone/>
            </a:pPr>
            <a:r>
              <a:t/>
            </a:r>
            <a:endParaRPr/>
          </a:p>
        </p:txBody>
      </p:sp>
      <p:sp>
        <p:nvSpPr>
          <p:cNvPr id="109" name="Google Shape;109;p22"/>
          <p:cNvSpPr txBox="1"/>
          <p:nvPr>
            <p:ph idx="1" type="body"/>
          </p:nvPr>
        </p:nvSpPr>
        <p:spPr>
          <a:xfrm>
            <a:off x="364325" y="899325"/>
            <a:ext cx="8832300" cy="766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ru" sz="1100">
                <a:solidFill>
                  <a:schemeClr val="dk1"/>
                </a:solidFill>
              </a:rPr>
              <a:t>Table 3 was introduced to evaluate not only </a:t>
            </a:r>
            <a:r>
              <a:rPr i="1" lang="ru" sz="1100">
                <a:solidFill>
                  <a:schemeClr val="dk1"/>
                </a:solidFill>
              </a:rPr>
              <a:t>what</a:t>
            </a:r>
            <a:r>
              <a:rPr lang="ru" sz="1100">
                <a:solidFill>
                  <a:schemeClr val="dk1"/>
                </a:solidFill>
              </a:rPr>
              <a:t> architectural decisions were made, but also </a:t>
            </a:r>
            <a:r>
              <a:rPr i="1" lang="ru" sz="1100">
                <a:solidFill>
                  <a:schemeClr val="dk1"/>
                </a:solidFill>
              </a:rPr>
              <a:t>how clearly, consistently, and comparably</a:t>
            </a:r>
            <a:r>
              <a:rPr lang="ru" sz="1100">
                <a:solidFill>
                  <a:schemeClr val="dk1"/>
                </a:solidFill>
              </a:rPr>
              <a:t> these decisions were explained.</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0"/>
              </a:spcAft>
              <a:buNone/>
            </a:pPr>
            <a:r>
              <a:t/>
            </a:r>
            <a:endParaRPr sz="1600">
              <a:solidFill>
                <a:schemeClr val="dk1"/>
              </a:solidFill>
            </a:endParaRPr>
          </a:p>
          <a:p>
            <a:pPr indent="0" lvl="0" marL="457200" rtl="0" algn="l">
              <a:spcBef>
                <a:spcPts val="1200"/>
              </a:spcBef>
              <a:spcAft>
                <a:spcPts val="0"/>
              </a:spcAft>
              <a:buNone/>
            </a:pPr>
            <a:r>
              <a:t/>
            </a:r>
            <a:endParaRPr sz="1600">
              <a:solidFill>
                <a:schemeClr val="dk1"/>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
        <p:nvSpPr>
          <p:cNvPr id="110" name="Google Shape;110;p22"/>
          <p:cNvSpPr txBox="1"/>
          <p:nvPr/>
        </p:nvSpPr>
        <p:spPr>
          <a:xfrm>
            <a:off x="472600" y="1505675"/>
            <a:ext cx="7111800" cy="190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ru" sz="1300">
                <a:solidFill>
                  <a:schemeClr val="dk1"/>
                </a:solidFill>
              </a:rPr>
              <a:t>Traceability-oriented indicators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ru" sz="1100">
                <a:solidFill>
                  <a:schemeClr val="dk1"/>
                </a:solidFill>
              </a:rPr>
              <a:t>Quality_Attributes_Explicit</a:t>
            </a:r>
            <a:r>
              <a:rPr lang="ru" sz="1100">
                <a:solidFill>
                  <a:schemeClr val="dk1"/>
                </a:solidFill>
              </a:rPr>
              <a:t> — quality attributes are explicitly listed in the iteration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QA_Decision_Link</a:t>
            </a:r>
            <a:r>
              <a:rPr lang="ru" sz="1100">
                <a:solidFill>
                  <a:schemeClr val="dk1"/>
                </a:solidFill>
              </a:rPr>
              <a:t> — the work explicitly shows which architectural decisions address which quality attributes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Decision_Artifact_Link</a:t>
            </a:r>
            <a:r>
              <a:rPr lang="ru" sz="1100">
                <a:solidFill>
                  <a:schemeClr val="dk1"/>
                </a:solidFill>
              </a:rPr>
              <a:t> — decisions described in text are also reflected in diagrams or other artifacts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QA_Path_Complete</a:t>
            </a:r>
            <a:r>
              <a:rPr lang="ru" sz="1100">
                <a:solidFill>
                  <a:schemeClr val="dk1"/>
                </a:solidFill>
              </a:rPr>
              <a:t> — the full chain is visible: quality attribute → tactic/decision → architectural element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Coverage_Transparent</a:t>
            </a:r>
            <a:r>
              <a:rPr lang="ru" sz="1100">
                <a:solidFill>
                  <a:schemeClr val="dk1"/>
                </a:solidFill>
              </a:rPr>
              <a:t> — it is clear to the reader which attribute is covered by which decision </a:t>
            </a:r>
            <a:endParaRPr sz="1100">
              <a:solidFill>
                <a:schemeClr val="dk1"/>
              </a:solidFill>
            </a:endParaRPr>
          </a:p>
        </p:txBody>
      </p:sp>
      <p:sp>
        <p:nvSpPr>
          <p:cNvPr id="111" name="Google Shape;111;p22"/>
          <p:cNvSpPr txBox="1"/>
          <p:nvPr/>
        </p:nvSpPr>
        <p:spPr>
          <a:xfrm>
            <a:off x="472600" y="3582850"/>
            <a:ext cx="8520600" cy="132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ru" sz="1300">
                <a:solidFill>
                  <a:schemeClr val="dk1"/>
                </a:solidFill>
              </a:rPr>
              <a:t>Justification-quality indicators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ru" sz="1100">
                <a:solidFill>
                  <a:schemeClr val="dk1"/>
                </a:solidFill>
              </a:rPr>
              <a:t>Rationale_Explicit</a:t>
            </a:r>
            <a:r>
              <a:rPr lang="ru" sz="1100">
                <a:solidFill>
                  <a:schemeClr val="dk1"/>
                </a:solidFill>
              </a:rPr>
              <a:t> — the rationale for key decisions is explicitly stated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Tradeoff_Explicit</a:t>
            </a:r>
            <a:r>
              <a:rPr lang="ru" sz="1100">
                <a:solidFill>
                  <a:schemeClr val="dk1"/>
                </a:solidFill>
              </a:rPr>
              <a:t> — trade-offs, limitations, or rejected alternatives are explicitly discussed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Justification_Structured</a:t>
            </a:r>
            <a:r>
              <a:rPr lang="ru" sz="1100">
                <a:solidFill>
                  <a:schemeClr val="dk1"/>
                </a:solidFill>
              </a:rPr>
              <a:t> — the justification is presented in a uniform and repeatable way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Internal_Consistency</a:t>
            </a:r>
            <a:r>
              <a:rPr lang="ru" sz="1100">
                <a:solidFill>
                  <a:schemeClr val="dk1"/>
                </a:solidFill>
              </a:rPr>
              <a:t> — there are no contradictions between text, diagrams, and tables</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b="1" lang="ru" sz="2300"/>
              <a:t>Table 3 — Research-Oriented Evaluation Metrics</a:t>
            </a:r>
            <a:endParaRPr b="1" sz="2300"/>
          </a:p>
          <a:p>
            <a:pPr indent="0" lvl="0" marL="0" rtl="0" algn="l">
              <a:spcBef>
                <a:spcPts val="600"/>
              </a:spcBef>
              <a:spcAft>
                <a:spcPts val="0"/>
              </a:spcAft>
              <a:buNone/>
            </a:pPr>
            <a:r>
              <a:t/>
            </a:r>
            <a:endParaRPr/>
          </a:p>
        </p:txBody>
      </p:sp>
      <p:sp>
        <p:nvSpPr>
          <p:cNvPr id="117" name="Google Shape;117;p23"/>
          <p:cNvSpPr txBox="1"/>
          <p:nvPr>
            <p:ph idx="1" type="body"/>
          </p:nvPr>
        </p:nvSpPr>
        <p:spPr>
          <a:xfrm>
            <a:off x="364325" y="899325"/>
            <a:ext cx="8832300" cy="766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ru" sz="1100">
                <a:solidFill>
                  <a:schemeClr val="dk1"/>
                </a:solidFill>
              </a:rPr>
              <a:t>Table 3 was introduced to evaluate not only </a:t>
            </a:r>
            <a:r>
              <a:rPr i="1" lang="ru" sz="1100">
                <a:solidFill>
                  <a:schemeClr val="dk1"/>
                </a:solidFill>
              </a:rPr>
              <a:t>what</a:t>
            </a:r>
            <a:r>
              <a:rPr lang="ru" sz="1100">
                <a:solidFill>
                  <a:schemeClr val="dk1"/>
                </a:solidFill>
              </a:rPr>
              <a:t> architectural decisions were made, but also </a:t>
            </a:r>
            <a:r>
              <a:rPr i="1" lang="ru" sz="1100">
                <a:solidFill>
                  <a:schemeClr val="dk1"/>
                </a:solidFill>
              </a:rPr>
              <a:t>how clearly, consistently, and comparably</a:t>
            </a:r>
            <a:r>
              <a:rPr lang="ru" sz="1100">
                <a:solidFill>
                  <a:schemeClr val="dk1"/>
                </a:solidFill>
              </a:rPr>
              <a:t> these decisions were explained.</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0"/>
              </a:spcAft>
              <a:buNone/>
            </a:pPr>
            <a:r>
              <a:t/>
            </a:r>
            <a:endParaRPr sz="1600">
              <a:solidFill>
                <a:schemeClr val="dk1"/>
              </a:solidFill>
            </a:endParaRPr>
          </a:p>
          <a:p>
            <a:pPr indent="0" lvl="0" marL="457200" rtl="0" algn="l">
              <a:spcBef>
                <a:spcPts val="1200"/>
              </a:spcBef>
              <a:spcAft>
                <a:spcPts val="0"/>
              </a:spcAft>
              <a:buNone/>
            </a:pPr>
            <a:r>
              <a:t/>
            </a:r>
            <a:endParaRPr sz="1600">
              <a:solidFill>
                <a:schemeClr val="dk1"/>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
        <p:nvSpPr>
          <p:cNvPr id="118" name="Google Shape;118;p23"/>
          <p:cNvSpPr txBox="1"/>
          <p:nvPr/>
        </p:nvSpPr>
        <p:spPr>
          <a:xfrm>
            <a:off x="197800" y="1665525"/>
            <a:ext cx="8408700" cy="279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ru" sz="1300">
                <a:solidFill>
                  <a:schemeClr val="dk1"/>
                </a:solidFill>
              </a:rPr>
              <a:t>Comparability and effort indicators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ru" sz="1100">
                <a:solidFill>
                  <a:schemeClr val="dk1"/>
                </a:solidFill>
              </a:rPr>
              <a:t>Iteration_Goal_Correct</a:t>
            </a:r>
            <a:r>
              <a:rPr lang="ru" sz="1100">
                <a:solidFill>
                  <a:schemeClr val="dk1"/>
                </a:solidFill>
              </a:rPr>
              <a:t> — the iteration focus matches the expected ADD goal for that iteration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Cross_Group_Comparability</a:t>
            </a:r>
            <a:r>
              <a:rPr lang="ru" sz="1100">
                <a:solidFill>
                  <a:schemeClr val="dk1"/>
                </a:solidFill>
              </a:rPr>
              <a:t> — the result can be directly compared with the work of other groups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Overhead_Acceptable</a:t>
            </a:r>
            <a:r>
              <a:rPr lang="ru" sz="1100">
                <a:solidFill>
                  <a:schemeClr val="dk1"/>
                </a:solidFill>
              </a:rPr>
              <a:t> — the extra analysis/formatting effort is not excessive relative to its benefit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Overengineering_Absent</a:t>
            </a:r>
            <a:r>
              <a:rPr lang="ru" sz="1100">
                <a:solidFill>
                  <a:schemeClr val="dk1"/>
                </a:solidFill>
              </a:rPr>
              <a:t> — there is no premature or unnecessary architectural complication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Improvement_vs_Previous</a:t>
            </a:r>
            <a:r>
              <a:rPr lang="ru" sz="1100">
                <a:solidFill>
                  <a:schemeClr val="dk1"/>
                </a:solidFill>
              </a:rPr>
              <a:t> — the iteration shows real improvement over the previous one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Previous_Issues_Addressed</a:t>
            </a:r>
            <a:r>
              <a:rPr lang="ru" sz="1100">
                <a:solidFill>
                  <a:schemeClr val="dk1"/>
                </a:solidFill>
              </a:rPr>
              <a:t> — issues and gaps from the previous iteration are explicitly addressed</a:t>
            </a:r>
            <a:endParaRPr sz="1100">
              <a:solidFill>
                <a:schemeClr val="dk1"/>
              </a:solidFill>
            </a:endParaRPr>
          </a:p>
          <a:p>
            <a:pPr indent="0" lvl="0" marL="0" rtl="0" algn="l">
              <a:lnSpc>
                <a:spcPct val="115000"/>
              </a:lnSpc>
              <a:spcBef>
                <a:spcPts val="1200"/>
              </a:spcBef>
              <a:spcAft>
                <a:spcPts val="0"/>
              </a:spcAft>
              <a:buNone/>
            </a:pPr>
            <a:r>
              <a:rPr b="1" lang="ru" sz="1100">
                <a:solidFill>
                  <a:schemeClr val="dk1"/>
                </a:solidFill>
              </a:rPr>
              <a:t>Coding rule:</a:t>
            </a:r>
            <a:br>
              <a:rPr b="1" lang="ru" sz="1100">
                <a:solidFill>
                  <a:schemeClr val="dk1"/>
                </a:solidFill>
              </a:rPr>
            </a:br>
            <a:r>
              <a:rPr lang="ru" sz="1100">
                <a:solidFill>
                  <a:schemeClr val="dk1"/>
                </a:solidFill>
              </a:rPr>
              <a:t> Each indicator was binary coded:</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ru" sz="1100">
                <a:solidFill>
                  <a:schemeClr val="dk1"/>
                </a:solidFill>
              </a:rPr>
              <a:t>1</a:t>
            </a:r>
            <a:r>
              <a:rPr lang="ru" sz="1100">
                <a:solidFill>
                  <a:schemeClr val="dk1"/>
                </a:solidFill>
              </a:rPr>
              <a:t> — explicitly present and supported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0</a:t>
            </a:r>
            <a:r>
              <a:rPr lang="ru" sz="1100">
                <a:solidFill>
                  <a:schemeClr val="dk1"/>
                </a:solidFill>
              </a:rPr>
              <a:t> — absent, weak, contradictory, implicit, or not reliably confirmable</a:t>
            </a:r>
            <a:endParaRPr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From Student Submissions to Binary Evidence Tables</a:t>
            </a:r>
            <a:endParaRPr/>
          </a:p>
        </p:txBody>
      </p:sp>
      <p:sp>
        <p:nvSpPr>
          <p:cNvPr id="124" name="Google Shape;124;p24"/>
          <p:cNvSpPr txBox="1"/>
          <p:nvPr>
            <p:ph idx="1" type="body"/>
          </p:nvPr>
        </p:nvSpPr>
        <p:spPr>
          <a:xfrm>
            <a:off x="364325" y="899325"/>
            <a:ext cx="8832300" cy="3852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ru" sz="1100">
                <a:solidFill>
                  <a:srgbClr val="6AA84F"/>
                </a:solidFill>
              </a:rPr>
              <a:t>таблица 3 фиксирует уже не содержание архитектуры как таковое, а </a:t>
            </a:r>
            <a:r>
              <a:rPr b="1" i="1" lang="ru" sz="1100">
                <a:solidFill>
                  <a:srgbClr val="6AA84F"/>
                </a:solidFill>
              </a:rPr>
              <a:t>качество архитектурного рассуждения</a:t>
            </a:r>
            <a:r>
              <a:rPr i="1" lang="ru" sz="1100">
                <a:solidFill>
                  <a:srgbClr val="6AA84F"/>
                </a:solidFill>
              </a:rPr>
              <a:t>.</a:t>
            </a:r>
            <a:endParaRPr i="1" sz="1100">
              <a:solidFill>
                <a:srgbClr val="6AA84F"/>
              </a:solidFill>
            </a:endParaRPr>
          </a:p>
          <a:p>
            <a:pPr indent="0" lvl="0" marL="0" rtl="0" algn="l">
              <a:spcBef>
                <a:spcPts val="1200"/>
              </a:spcBef>
              <a:spcAft>
                <a:spcPts val="0"/>
              </a:spcAft>
              <a:buClr>
                <a:schemeClr val="dk1"/>
              </a:buClr>
              <a:buSzPts val="1100"/>
              <a:buFont typeface="Arial"/>
              <a:buNone/>
            </a:pPr>
            <a:r>
              <a:rPr i="1" lang="ru" sz="1200">
                <a:solidFill>
                  <a:srgbClr val="6AA84F"/>
                </a:solidFill>
              </a:rPr>
              <a:t>Первая группа столбцов в таблице относится к </a:t>
            </a:r>
            <a:r>
              <a:rPr b="1" i="1" lang="ru" sz="1200">
                <a:solidFill>
                  <a:srgbClr val="6AA84F"/>
                </a:solidFill>
              </a:rPr>
              <a:t>прослеживаемости</a:t>
            </a:r>
            <a:r>
              <a:rPr i="1" lang="ru" sz="1200">
                <a:solidFill>
                  <a:srgbClr val="6AA84F"/>
                </a:solidFill>
              </a:rPr>
              <a:t>.</a:t>
            </a:r>
            <a:br>
              <a:rPr i="1" lang="ru" sz="1200">
                <a:solidFill>
                  <a:srgbClr val="6AA84F"/>
                </a:solidFill>
              </a:rPr>
            </a:br>
            <a:r>
              <a:rPr i="1" lang="ru" sz="1200">
                <a:solidFill>
                  <a:srgbClr val="6AA84F"/>
                </a:solidFill>
              </a:rPr>
              <a:t> Здесь мы смотрим, перечислены ли quality attributes явно, показано ли, какими решениями они покрываются, перенесены ли эти решения из текста в диаграммы, и может ли читатель восстановить полную цепочку: от quality attribute к tactic или decision, и далее к конкретному архитектурному элементу.</a:t>
            </a:r>
            <a:endParaRPr i="1" sz="1200">
              <a:solidFill>
                <a:srgbClr val="6AA84F"/>
              </a:solidFill>
            </a:endParaRPr>
          </a:p>
          <a:p>
            <a:pPr indent="0" lvl="0" marL="0" rtl="0" algn="l">
              <a:spcBef>
                <a:spcPts val="1200"/>
              </a:spcBef>
              <a:spcAft>
                <a:spcPts val="0"/>
              </a:spcAft>
              <a:buClr>
                <a:schemeClr val="dk1"/>
              </a:buClr>
              <a:buSzPts val="1100"/>
              <a:buFont typeface="Arial"/>
              <a:buNone/>
            </a:pPr>
            <a:r>
              <a:rPr i="1" lang="ru" sz="1200">
                <a:solidFill>
                  <a:srgbClr val="6AA84F"/>
                </a:solidFill>
              </a:rPr>
              <a:t>Вторая группа столбцов относится к </a:t>
            </a:r>
            <a:r>
              <a:rPr b="1" i="1" lang="ru" sz="1200">
                <a:solidFill>
                  <a:srgbClr val="6AA84F"/>
                </a:solidFill>
              </a:rPr>
              <a:t>качеству обоснования</a:t>
            </a:r>
            <a:r>
              <a:rPr i="1" lang="ru" sz="1200">
                <a:solidFill>
                  <a:srgbClr val="6AA84F"/>
                </a:solidFill>
              </a:rPr>
              <a:t>.</a:t>
            </a:r>
            <a:br>
              <a:rPr i="1" lang="ru" sz="1200">
                <a:solidFill>
                  <a:srgbClr val="6AA84F"/>
                </a:solidFill>
              </a:rPr>
            </a:br>
            <a:r>
              <a:rPr i="1" lang="ru" sz="1200">
                <a:solidFill>
                  <a:srgbClr val="6AA84F"/>
                </a:solidFill>
              </a:rPr>
              <a:t> Здесь важно не только наличие решения, но и то, объяснено ли, почему оно выбрано, показаны ли компромиссы, структурировано ли обоснование единообразно и нет ли противоречий между разными частями работы.</a:t>
            </a:r>
            <a:endParaRPr i="1" sz="1200">
              <a:solidFill>
                <a:srgbClr val="6AA84F"/>
              </a:solidFill>
            </a:endParaRPr>
          </a:p>
          <a:p>
            <a:pPr indent="0" lvl="0" marL="0" rtl="0" algn="l">
              <a:spcBef>
                <a:spcPts val="1200"/>
              </a:spcBef>
              <a:spcAft>
                <a:spcPts val="0"/>
              </a:spcAft>
              <a:buClr>
                <a:schemeClr val="dk1"/>
              </a:buClr>
              <a:buSzPts val="1100"/>
              <a:buFont typeface="Arial"/>
              <a:buNone/>
            </a:pPr>
            <a:r>
              <a:rPr i="1" lang="ru" sz="1200">
                <a:solidFill>
                  <a:srgbClr val="6AA84F"/>
                </a:solidFill>
              </a:rPr>
              <a:t>Третья группа столбцов относится к </a:t>
            </a:r>
            <a:r>
              <a:rPr b="1" i="1" lang="ru" sz="1200">
                <a:solidFill>
                  <a:srgbClr val="6AA84F"/>
                </a:solidFill>
              </a:rPr>
              <a:t>сопоставимости и измерению усилий по построению архитектуры по методу.</a:t>
            </a:r>
            <a:br>
              <a:rPr i="1" lang="ru" sz="1200">
                <a:solidFill>
                  <a:srgbClr val="6AA84F"/>
                </a:solidFill>
              </a:rPr>
            </a:br>
            <a:r>
              <a:rPr i="1" lang="ru" sz="1200">
                <a:solidFill>
                  <a:srgbClr val="6AA84F"/>
                </a:solidFill>
              </a:rPr>
              <a:t> Она нужна, чтобы оценить, можно ли вообще сопоставлять архитектуры между группами на одних и тех же основаниях, соответствует ли фокус итерации ожидаемой логике ADD, не является ли дополнительный анализ чрезмерным, нет ли преждевременного усложнения, и действительно ли текущая итерация улучшает предыдущую и адресует её проблемы.</a:t>
            </a:r>
            <a:endParaRPr i="1" sz="1200">
              <a:solidFill>
                <a:srgbClr val="6AA84F"/>
              </a:solidFill>
            </a:endParaRPr>
          </a:p>
          <a:p>
            <a:pPr indent="0" lvl="0" marL="0" rtl="0" algn="l">
              <a:spcBef>
                <a:spcPts val="1200"/>
              </a:spcBef>
              <a:spcAft>
                <a:spcPts val="0"/>
              </a:spcAft>
              <a:buNone/>
            </a:pPr>
            <a:r>
              <a:rPr i="1" lang="ru" sz="1200">
                <a:solidFill>
                  <a:srgbClr val="6AA84F"/>
                </a:solidFill>
              </a:rPr>
              <a:t>Все показатели кодировались бинарно: единица ставилась только тогда, когда признак был явно выражен и подтверждался артефактом. Ноль ставился, если он отсутствовал, был неявным, противоречивым или недостаточно подтверждённым. </a:t>
            </a:r>
            <a:r>
              <a:rPr i="1" lang="ru" sz="1200">
                <a:solidFill>
                  <a:srgbClr val="6AA84F"/>
                </a:solidFill>
              </a:rPr>
              <a:t>подход позволит минимизировать субъективность</a:t>
            </a:r>
            <a:endParaRPr i="1" sz="1700">
              <a:solidFill>
                <a:srgbClr val="6AA84F"/>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From Student Submissions to Binary Evidence Tables</a:t>
            </a:r>
            <a:endParaRPr/>
          </a:p>
        </p:txBody>
      </p:sp>
      <p:sp>
        <p:nvSpPr>
          <p:cNvPr id="130" name="Google Shape;130;p25"/>
          <p:cNvSpPr txBox="1"/>
          <p:nvPr>
            <p:ph idx="1" type="body"/>
          </p:nvPr>
        </p:nvSpPr>
        <p:spPr>
          <a:xfrm>
            <a:off x="311700" y="1141100"/>
            <a:ext cx="8832300" cy="3852000"/>
          </a:xfrm>
          <a:prstGeom prst="rect">
            <a:avLst/>
          </a:prstGeom>
        </p:spPr>
        <p:txBody>
          <a:bodyPr anchorCtr="0" anchor="t" bIns="91425" lIns="91425" spcFirstLastPara="1" rIns="91425" wrap="square" tIns="91425">
            <a:noAutofit/>
          </a:bodyPr>
          <a:lstStyle/>
          <a:p>
            <a:pPr indent="-336550" lvl="0" marL="457200" rtl="0" algn="l">
              <a:spcBef>
                <a:spcPts val="1200"/>
              </a:spcBef>
              <a:spcAft>
                <a:spcPts val="0"/>
              </a:spcAft>
              <a:buClr>
                <a:srgbClr val="6AA84F"/>
              </a:buClr>
              <a:buSzPts val="1700"/>
              <a:buChar char="●"/>
            </a:pPr>
            <a:r>
              <a:rPr i="1" lang="ru" sz="1700">
                <a:solidFill>
                  <a:srgbClr val="6AA84F"/>
                </a:solidFill>
              </a:rPr>
              <a:t>таблица 1 показала преимущество ADD+k по покрытию атрибутов качества;</a:t>
            </a:r>
            <a:endParaRPr i="1" sz="1700">
              <a:solidFill>
                <a:srgbClr val="6AA84F"/>
              </a:solidFill>
            </a:endParaRPr>
          </a:p>
          <a:p>
            <a:pPr indent="-336550" lvl="0" marL="457200" rtl="0" algn="l">
              <a:spcBef>
                <a:spcPts val="0"/>
              </a:spcBef>
              <a:spcAft>
                <a:spcPts val="0"/>
              </a:spcAft>
              <a:buClr>
                <a:srgbClr val="6AA84F"/>
              </a:buClr>
              <a:buSzPts val="1700"/>
              <a:buChar char="●"/>
            </a:pPr>
            <a:r>
              <a:rPr i="1" lang="ru" sz="1700">
                <a:solidFill>
                  <a:srgbClr val="6AA84F"/>
                </a:solidFill>
              </a:rPr>
              <a:t>таблица 2 не показала преимущества ADD+k по архитектурным категориям;</a:t>
            </a:r>
            <a:endParaRPr i="1" sz="1700">
              <a:solidFill>
                <a:srgbClr val="6AA84F"/>
              </a:solidFill>
            </a:endParaRPr>
          </a:p>
          <a:p>
            <a:pPr indent="-336550" lvl="0" marL="457200" rtl="0" algn="l">
              <a:spcBef>
                <a:spcPts val="0"/>
              </a:spcBef>
              <a:spcAft>
                <a:spcPts val="0"/>
              </a:spcAft>
              <a:buClr>
                <a:srgbClr val="6AA84F"/>
              </a:buClr>
              <a:buSzPts val="1700"/>
              <a:buChar char="●"/>
            </a:pPr>
            <a:r>
              <a:rPr i="1" lang="ru" sz="1700">
                <a:solidFill>
                  <a:srgbClr val="6AA84F"/>
                </a:solidFill>
              </a:rPr>
              <a:t>таблица 3 показала смешанную картину: лучше прослеживаемость, но хуже сопоставимость.</a:t>
            </a:r>
            <a:endParaRPr i="1" sz="1700">
              <a:solidFill>
                <a:srgbClr val="6AA84F"/>
              </a:solidFill>
            </a:endParaRPr>
          </a:p>
          <a:p>
            <a:pPr indent="0" lvl="0" marL="0" rtl="0" algn="l">
              <a:spcBef>
                <a:spcPts val="1200"/>
              </a:spcBef>
              <a:spcAft>
                <a:spcPts val="0"/>
              </a:spcAft>
              <a:buNone/>
            </a:pPr>
            <a:r>
              <a:t/>
            </a:r>
            <a:endParaRPr b="1" i="1" sz="1700">
              <a:solidFill>
                <a:srgbClr val="6AA84F"/>
              </a:solidFill>
            </a:endParaRPr>
          </a:p>
          <a:p>
            <a:pPr indent="0" lvl="0" marL="0" rtl="0" algn="l">
              <a:spcBef>
                <a:spcPts val="1200"/>
              </a:spcBef>
              <a:spcAft>
                <a:spcPts val="0"/>
              </a:spcAft>
              <a:buNone/>
            </a:pPr>
            <a:r>
              <a:t/>
            </a:r>
            <a:endParaRPr b="1" i="1" sz="1100">
              <a:solidFill>
                <a:srgbClr val="6AA84F"/>
              </a:solidFill>
            </a:endParaRPr>
          </a:p>
          <a:p>
            <a:pPr indent="0" lvl="0" marL="0" rtl="0" algn="l">
              <a:spcBef>
                <a:spcPts val="1200"/>
              </a:spcBef>
              <a:spcAft>
                <a:spcPts val="0"/>
              </a:spcAft>
              <a:buNone/>
            </a:pPr>
            <a:r>
              <a:t/>
            </a:r>
            <a:endParaRPr b="1" i="1" sz="1100">
              <a:solidFill>
                <a:srgbClr val="6AA84F"/>
              </a:solidFill>
            </a:endParaRPr>
          </a:p>
          <a:p>
            <a:pPr indent="0" lvl="0" marL="0" rtl="0" algn="l">
              <a:spcBef>
                <a:spcPts val="1200"/>
              </a:spcBef>
              <a:spcAft>
                <a:spcPts val="0"/>
              </a:spcAft>
              <a:buNone/>
            </a:pPr>
            <a:r>
              <a:t/>
            </a:r>
            <a:endParaRPr i="1" sz="1100">
              <a:solidFill>
                <a:srgbClr val="6AA84F"/>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1 — Quality-attribute coverage</a:t>
            </a:r>
            <a:endParaRPr/>
          </a:p>
        </p:txBody>
      </p:sp>
      <p:graphicFrame>
        <p:nvGraphicFramePr>
          <p:cNvPr id="136" name="Google Shape;136;p26"/>
          <p:cNvGraphicFramePr/>
          <p:nvPr/>
        </p:nvGraphicFramePr>
        <p:xfrm>
          <a:off x="496050" y="1017725"/>
          <a:ext cx="3000000" cy="3000000"/>
        </p:xfrm>
        <a:graphic>
          <a:graphicData uri="http://schemas.openxmlformats.org/drawingml/2006/table">
            <a:tbl>
              <a:tblPr>
                <a:noFill/>
                <a:tableStyleId>{EBF06619-F15E-40E2-84F3-F13DFC7912E8}</a:tableStyleId>
              </a:tblPr>
              <a:tblGrid>
                <a:gridCol w="2037975"/>
                <a:gridCol w="2037975"/>
                <a:gridCol w="2037975"/>
                <a:gridCol w="2037975"/>
              </a:tblGrid>
              <a:tr h="427375">
                <a:tc>
                  <a:txBody>
                    <a:bodyPr/>
                    <a:lstStyle/>
                    <a:p>
                      <a:pPr indent="0" lvl="0" marL="0" rtl="0" algn="ctr">
                        <a:lnSpc>
                          <a:spcPct val="115000"/>
                        </a:lnSpc>
                        <a:spcBef>
                          <a:spcPts val="0"/>
                        </a:spcBef>
                        <a:spcAft>
                          <a:spcPts val="0"/>
                        </a:spcAft>
                        <a:buNone/>
                      </a:pPr>
                      <a:r>
                        <a:rPr b="1" lang="ru" sz="1600"/>
                        <a:t>Metric</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600"/>
                        <a:t>ADD</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600"/>
                        <a:t>ADD+k</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600"/>
                        <a:t>Interpretation</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0400">
                <a:tc>
                  <a:txBody>
                    <a:bodyPr/>
                    <a:lstStyle/>
                    <a:p>
                      <a:pPr indent="0" lvl="0" marL="0" rtl="0" algn="l">
                        <a:spcBef>
                          <a:spcPts val="0"/>
                        </a:spcBef>
                        <a:spcAft>
                          <a:spcPts val="0"/>
                        </a:spcAft>
                        <a:buNone/>
                      </a:pPr>
                      <a:r>
                        <a:rPr lang="ru"/>
                        <a:t>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12</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Number of student submissions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0775">
                <a:tc>
                  <a:txBody>
                    <a:bodyPr/>
                    <a:lstStyle/>
                    <a:p>
                      <a:pPr indent="0" lvl="0" marL="0" rtl="0" algn="l">
                        <a:spcBef>
                          <a:spcPts val="0"/>
                        </a:spcBef>
                        <a:spcAft>
                          <a:spcPts val="0"/>
                        </a:spcAft>
                        <a:buNone/>
                      </a:pPr>
                      <a:r>
                        <a:rPr lang="ru"/>
                        <a:t>Mean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11.60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13.75</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Higher in ADD+k</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0400">
                <a:tc>
                  <a:txBody>
                    <a:bodyPr/>
                    <a:lstStyle/>
                    <a:p>
                      <a:pPr indent="0" lvl="0" marL="0" rtl="0" algn="l">
                        <a:spcBef>
                          <a:spcPts val="0"/>
                        </a:spcBef>
                        <a:spcAft>
                          <a:spcPts val="0"/>
                        </a:spcAft>
                        <a:buNone/>
                      </a:pPr>
                      <a:r>
                        <a:rPr lang="ru"/>
                        <a:t>Standard deviation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4.30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7.62</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Variability is much higher in ADD+k</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0400">
                <a:tc>
                  <a:txBody>
                    <a:bodyPr/>
                    <a:lstStyle/>
                    <a:p>
                      <a:pPr indent="0" lvl="0" marL="0" rtl="0" algn="l">
                        <a:spcBef>
                          <a:spcPts val="0"/>
                        </a:spcBef>
                        <a:spcAft>
                          <a:spcPts val="0"/>
                        </a:spcAft>
                        <a:buNone/>
                      </a:pPr>
                      <a:r>
                        <a:rPr lang="ru"/>
                        <a:t>Median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11.0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13.0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Central tendency is also slightly higher in ADD+k</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00000">
                <a:tc>
                  <a:txBody>
                    <a:bodyPr/>
                    <a:lstStyle/>
                    <a:p>
                      <a:pPr indent="0" lvl="0" marL="0" rtl="0" algn="l">
                        <a:spcBef>
                          <a:spcPts val="0"/>
                        </a:spcBef>
                        <a:spcAft>
                          <a:spcPts val="0"/>
                        </a:spcAft>
                        <a:buNone/>
                      </a:pPr>
                      <a:r>
                        <a:rPr lang="ru"/>
                        <a:t>Min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4</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Lowest result is weaker in ADD+k</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0400">
                <a:tc>
                  <a:txBody>
                    <a:bodyPr/>
                    <a:lstStyle/>
                    <a:p>
                      <a:pPr indent="0" lvl="0" marL="0" rtl="0" algn="l">
                        <a:spcBef>
                          <a:spcPts val="0"/>
                        </a:spcBef>
                        <a:spcAft>
                          <a:spcPts val="0"/>
                        </a:spcAft>
                        <a:buNone/>
                      </a:pPr>
                      <a:r>
                        <a:rPr lang="ru"/>
                        <a:t>Max</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19</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26</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Highest result is stronger in ADD+k</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1 — Quality-attribute coverage</a:t>
            </a:r>
            <a:endParaRPr/>
          </a:p>
        </p:txBody>
      </p:sp>
      <p:graphicFrame>
        <p:nvGraphicFramePr>
          <p:cNvPr id="142" name="Google Shape;142;p27"/>
          <p:cNvGraphicFramePr/>
          <p:nvPr/>
        </p:nvGraphicFramePr>
        <p:xfrm>
          <a:off x="311700" y="1106200"/>
          <a:ext cx="3000000" cy="3000000"/>
        </p:xfrm>
        <a:graphic>
          <a:graphicData uri="http://schemas.openxmlformats.org/drawingml/2006/table">
            <a:tbl>
              <a:tblPr>
                <a:noFill/>
                <a:tableStyleId>{EBF06619-F15E-40E2-84F3-F13DFC7912E8}</a:tableStyleId>
              </a:tblPr>
              <a:tblGrid>
                <a:gridCol w="3842225"/>
                <a:gridCol w="703275"/>
                <a:gridCol w="4185275"/>
              </a:tblGrid>
              <a:tr h="190500">
                <a:tc>
                  <a:txBody>
                    <a:bodyPr/>
                    <a:lstStyle/>
                    <a:p>
                      <a:pPr indent="0" lvl="0" marL="0" rtl="0" algn="ctr">
                        <a:lnSpc>
                          <a:spcPct val="115000"/>
                        </a:lnSpc>
                        <a:spcBef>
                          <a:spcPts val="0"/>
                        </a:spcBef>
                        <a:spcAft>
                          <a:spcPts val="0"/>
                        </a:spcAft>
                        <a:buNone/>
                      </a:pPr>
                      <a:r>
                        <a:rPr b="1" lang="ru" sz="1300"/>
                        <a:t>Indicator</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300"/>
                        <a:t>Value</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300"/>
                        <a:t>Interpretation</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sz="1600"/>
                        <a:t>Mean difference (ADD+k − ADD)</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600"/>
                        <a:t>+2.15</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600"/>
                        <a:t>Advantage in the direction of ADD+k</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sz="1600"/>
                        <a:t>Welch t-test p-value</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600"/>
                        <a:t>0.417</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600"/>
                        <a:t>Not statistically significant</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sz="1600"/>
                        <a:t>Mann–Whitney p-value</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600"/>
                        <a:t>0.487</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600"/>
                        <a:t>Not statistically significant</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sz="1600"/>
                        <a:t>Cohen’s d</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600"/>
                        <a:t>0.34</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600"/>
                        <a:t>Small effect size</a:t>
                      </a:r>
                      <a:endParaRPr sz="16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143" name="Google Shape;143;p27"/>
          <p:cNvSpPr txBox="1"/>
          <p:nvPr/>
        </p:nvSpPr>
        <p:spPr>
          <a:xfrm>
            <a:off x="311700" y="3292325"/>
            <a:ext cx="8965800" cy="202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ru" sz="1100">
                <a:solidFill>
                  <a:srgbClr val="6AA84F"/>
                </a:solidFill>
              </a:rPr>
              <a:t>Welch t-test p-value</a:t>
            </a:r>
            <a:r>
              <a:rPr lang="ru" sz="1100">
                <a:solidFill>
                  <a:srgbClr val="6AA84F"/>
                </a:solidFill>
              </a:rPr>
              <a:t> — вероятность получить наблюдаемую разницу средних или более экстремальную при условии, что в действительности различия между группами нет; критерий Уэлча применяется для сравнения средних двух независимых выборок без предположения о равенстве дисперсий.</a:t>
            </a:r>
            <a:endParaRPr sz="1100">
              <a:solidFill>
                <a:srgbClr val="6AA84F"/>
              </a:solidFill>
            </a:endParaRPr>
          </a:p>
          <a:p>
            <a:pPr indent="0" lvl="0" marL="0" rtl="0" algn="l">
              <a:lnSpc>
                <a:spcPct val="115000"/>
              </a:lnSpc>
              <a:spcBef>
                <a:spcPts val="1200"/>
              </a:spcBef>
              <a:spcAft>
                <a:spcPts val="0"/>
              </a:spcAft>
              <a:buNone/>
            </a:pPr>
            <a:r>
              <a:rPr b="1" lang="ru" sz="1100">
                <a:solidFill>
                  <a:srgbClr val="6AA84F"/>
                </a:solidFill>
              </a:rPr>
              <a:t>Mann–Whitney p-value</a:t>
            </a:r>
            <a:r>
              <a:rPr lang="ru" sz="1100">
                <a:solidFill>
                  <a:srgbClr val="6AA84F"/>
                </a:solidFill>
              </a:rPr>
              <a:t> — вероятность получить наблюдаемое различие в ранговом распределении двух независимых выборок или более экстремальное при условии отсутствия различий между группами; критерий Манна–Уитни используется как непараметрический тест.</a:t>
            </a:r>
            <a:endParaRPr sz="1100">
              <a:solidFill>
                <a:srgbClr val="6AA84F"/>
              </a:solidFill>
            </a:endParaRPr>
          </a:p>
          <a:p>
            <a:pPr indent="0" lvl="0" marL="0" rtl="0" algn="l">
              <a:lnSpc>
                <a:spcPct val="115000"/>
              </a:lnSpc>
              <a:spcBef>
                <a:spcPts val="1200"/>
              </a:spcBef>
              <a:spcAft>
                <a:spcPts val="1200"/>
              </a:spcAft>
              <a:buNone/>
            </a:pPr>
            <a:r>
              <a:rPr b="1" lang="ru" sz="1100">
                <a:solidFill>
                  <a:srgbClr val="6AA84F"/>
                </a:solidFill>
              </a:rPr>
              <a:t>Cohen’s d</a:t>
            </a:r>
            <a:r>
              <a:rPr lang="ru" sz="1100">
                <a:solidFill>
                  <a:srgbClr val="6AA84F"/>
                </a:solidFill>
              </a:rPr>
              <a:t> — стандартизированная мера размера эффекта, показывающая величину различия между средними двух групп в единицах стандартного отклонения.</a:t>
            </a:r>
            <a:endParaRPr sz="1100">
              <a:solidFill>
                <a:srgbClr val="6AA84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1 — Quality-attribute coverage</a:t>
            </a:r>
            <a:endParaRPr/>
          </a:p>
        </p:txBody>
      </p:sp>
      <p:graphicFrame>
        <p:nvGraphicFramePr>
          <p:cNvPr id="149" name="Google Shape;149;p28"/>
          <p:cNvGraphicFramePr/>
          <p:nvPr/>
        </p:nvGraphicFramePr>
        <p:xfrm>
          <a:off x="193825" y="1084200"/>
          <a:ext cx="3000000" cy="3000000"/>
        </p:xfrm>
        <a:graphic>
          <a:graphicData uri="http://schemas.openxmlformats.org/drawingml/2006/table">
            <a:tbl>
              <a:tblPr>
                <a:noFill/>
                <a:tableStyleId>{EBF06619-F15E-40E2-84F3-F13DFC7912E8}</a:tableStyleId>
              </a:tblPr>
              <a:tblGrid>
                <a:gridCol w="834475"/>
                <a:gridCol w="918125"/>
                <a:gridCol w="2571750"/>
                <a:gridCol w="2362200"/>
                <a:gridCol w="2343150"/>
              </a:tblGrid>
              <a:tr h="361950">
                <a:tc>
                  <a:txBody>
                    <a:bodyPr/>
                    <a:lstStyle/>
                    <a:p>
                      <a:pPr indent="0" lvl="0" marL="0" rtl="0" algn="ctr">
                        <a:lnSpc>
                          <a:spcPct val="115000"/>
                        </a:lnSpc>
                        <a:spcBef>
                          <a:spcPts val="0"/>
                        </a:spcBef>
                        <a:spcAft>
                          <a:spcPts val="0"/>
                        </a:spcAft>
                        <a:buNone/>
                      </a:pPr>
                      <a:r>
                        <a:rPr b="1" lang="ru" sz="1100"/>
                        <a:t>Method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Distribution pattern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Notable stronger works</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Notable weaker works</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Interpretation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ru"/>
                        <a:t>ADD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Relatively compact</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a.kovalev = 19</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g.statkevich = 4</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Results are more stable inside the group</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ru"/>
                        <a:t>ADD+k</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Much wider spread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i.khasanov = 26, mi.novikov = 23, d.batalov = 22</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Kudasov = 1, i.rudenko = 7, a.mutalapov = 7</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Results are less predictable inside the group</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150" name="Google Shape;150;p28"/>
          <p:cNvSpPr txBox="1"/>
          <p:nvPr/>
        </p:nvSpPr>
        <p:spPr>
          <a:xfrm>
            <a:off x="193825" y="3337525"/>
            <a:ext cx="3000000" cy="167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100">
                <a:solidFill>
                  <a:srgbClr val="6AA84F"/>
                </a:solidFill>
              </a:rPr>
              <a:t>Проверка leave-one-out показала:</a:t>
            </a:r>
            <a:endParaRPr sz="1100">
              <a:solidFill>
                <a:srgbClr val="6AA84F"/>
              </a:solidFill>
            </a:endParaRPr>
          </a:p>
          <a:p>
            <a:pPr indent="-298450" lvl="0" marL="457200" rtl="0" algn="l">
              <a:lnSpc>
                <a:spcPct val="115000"/>
              </a:lnSpc>
              <a:spcBef>
                <a:spcPts val="1200"/>
              </a:spcBef>
              <a:spcAft>
                <a:spcPts val="0"/>
              </a:spcAft>
              <a:buClr>
                <a:srgbClr val="6AA84F"/>
              </a:buClr>
              <a:buSzPts val="1100"/>
              <a:buChar char="●"/>
            </a:pPr>
            <a:r>
              <a:rPr lang="ru" sz="1100">
                <a:solidFill>
                  <a:srgbClr val="6AA84F"/>
                </a:solidFill>
              </a:rPr>
              <a:t>знак разницы </a:t>
            </a:r>
            <a:r>
              <a:rPr b="1" lang="ru" sz="1100">
                <a:solidFill>
                  <a:srgbClr val="6AA84F"/>
                </a:solidFill>
              </a:rPr>
              <a:t>не меняется</a:t>
            </a:r>
            <a:r>
              <a:rPr lang="ru" sz="1100">
                <a:solidFill>
                  <a:srgbClr val="6AA84F"/>
                </a:solidFill>
              </a:rPr>
              <a:t> при исключении любой одной работы;</a:t>
            </a:r>
            <a:endParaRPr sz="1100">
              <a:solidFill>
                <a:srgbClr val="6AA84F"/>
              </a:solidFill>
            </a:endParaRPr>
          </a:p>
          <a:p>
            <a:pPr indent="-298450" lvl="0" marL="457200" rtl="0" algn="l">
              <a:lnSpc>
                <a:spcPct val="115000"/>
              </a:lnSpc>
              <a:spcBef>
                <a:spcPts val="0"/>
              </a:spcBef>
              <a:spcAft>
                <a:spcPts val="0"/>
              </a:spcAft>
              <a:buClr>
                <a:srgbClr val="6AA84F"/>
              </a:buClr>
              <a:buSzPts val="1100"/>
              <a:buChar char="●"/>
            </a:pPr>
            <a:r>
              <a:rPr lang="ru" sz="1100">
                <a:solidFill>
                  <a:srgbClr val="6AA84F"/>
                </a:solidFill>
              </a:rPr>
              <a:t>то есть вывод </a:t>
            </a:r>
            <a:r>
              <a:rPr b="1" lang="ru" sz="1100">
                <a:solidFill>
                  <a:srgbClr val="6AA84F"/>
                </a:solidFill>
              </a:rPr>
              <a:t>не держится только на одном аутлайере</a:t>
            </a:r>
            <a:r>
              <a:rPr lang="ru" sz="1100">
                <a:solidFill>
                  <a:srgbClr val="6AA84F"/>
                </a:solidFill>
              </a:rPr>
              <a:t>;</a:t>
            </a:r>
            <a:endParaRPr sz="1100">
              <a:solidFill>
                <a:srgbClr val="6AA84F"/>
              </a:solidFill>
            </a:endParaRPr>
          </a:p>
          <a:p>
            <a:pPr indent="-298450" lvl="0" marL="457200" rtl="0" algn="l">
              <a:lnSpc>
                <a:spcPct val="115000"/>
              </a:lnSpc>
              <a:spcBef>
                <a:spcPts val="0"/>
              </a:spcBef>
              <a:spcAft>
                <a:spcPts val="0"/>
              </a:spcAft>
              <a:buClr>
                <a:srgbClr val="6AA84F"/>
              </a:buClr>
              <a:buSzPts val="1100"/>
              <a:buChar char="●"/>
            </a:pPr>
            <a:r>
              <a:rPr lang="ru" sz="1100">
                <a:solidFill>
                  <a:srgbClr val="6AA84F"/>
                </a:solidFill>
              </a:rPr>
              <a:t>но величина эффекта заметно плавает.</a:t>
            </a:r>
            <a:endParaRPr sz="1100">
              <a:solidFill>
                <a:srgbClr val="6AA84F"/>
              </a:solidFill>
            </a:endParaRPr>
          </a:p>
        </p:txBody>
      </p:sp>
      <p:sp>
        <p:nvSpPr>
          <p:cNvPr id="151" name="Google Shape;151;p28"/>
          <p:cNvSpPr txBox="1"/>
          <p:nvPr/>
        </p:nvSpPr>
        <p:spPr>
          <a:xfrm>
            <a:off x="4518175" y="3640500"/>
            <a:ext cx="4521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100">
                <a:solidFill>
                  <a:srgbClr val="6AA84F"/>
                </a:solidFill>
              </a:rPr>
              <a:t>По покрытию атрибутов качества ADD+k выглядит лучше по среднему, но это улучшение не является статистически убедительным и сопровождается заметно большим разбросом.</a:t>
            </a:r>
            <a:endParaRPr b="1" sz="1100">
              <a:solidFill>
                <a:srgbClr val="6AA84F"/>
              </a:solidFill>
            </a:endParaRPr>
          </a:p>
          <a:p>
            <a:pPr indent="0" lvl="0" marL="0" rtl="0" algn="l">
              <a:spcBef>
                <a:spcPts val="0"/>
              </a:spcBef>
              <a:spcAft>
                <a:spcPts val="0"/>
              </a:spcAft>
              <a:buNone/>
            </a:pPr>
            <a:r>
              <a:rPr lang="ru" sz="1100">
                <a:solidFill>
                  <a:srgbClr val="6AA84F"/>
                </a:solidFill>
              </a:rPr>
              <a:t>Следовательно, по Table 1 </a:t>
            </a:r>
            <a:r>
              <a:rPr b="1" lang="ru" sz="1100">
                <a:solidFill>
                  <a:srgbClr val="6AA84F"/>
                </a:solidFill>
              </a:rPr>
              <a:t>нельзя </a:t>
            </a:r>
            <a:r>
              <a:rPr lang="ru" sz="1100">
                <a:solidFill>
                  <a:srgbClr val="6AA84F"/>
                </a:solidFill>
              </a:rPr>
              <a:t>сказать, что метод ADD+k даёт предсказуемо лучший результат у большинства студентов.</a:t>
            </a:r>
            <a:endParaRPr>
              <a:solidFill>
                <a:srgbClr val="6AA84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2 — Architectural solution categories</a:t>
            </a:r>
            <a:endParaRPr/>
          </a:p>
        </p:txBody>
      </p:sp>
      <p:graphicFrame>
        <p:nvGraphicFramePr>
          <p:cNvPr id="157" name="Google Shape;157;p29"/>
          <p:cNvGraphicFramePr/>
          <p:nvPr/>
        </p:nvGraphicFramePr>
        <p:xfrm>
          <a:off x="311700" y="1073825"/>
          <a:ext cx="3000000" cy="3000000"/>
        </p:xfrm>
        <a:graphic>
          <a:graphicData uri="http://schemas.openxmlformats.org/drawingml/2006/table">
            <a:tbl>
              <a:tblPr>
                <a:noFill/>
                <a:tableStyleId>{EBF06619-F15E-40E2-84F3-F13DFC7912E8}</a:tableStyleId>
              </a:tblPr>
              <a:tblGrid>
                <a:gridCol w="2845750"/>
                <a:gridCol w="2002575"/>
                <a:gridCol w="2898425"/>
              </a:tblGrid>
              <a:tr h="190500">
                <a:tc>
                  <a:txBody>
                    <a:bodyPr/>
                    <a:lstStyle/>
                    <a:p>
                      <a:pPr indent="0" lvl="0" marL="0" rtl="0" algn="ctr">
                        <a:lnSpc>
                          <a:spcPct val="115000"/>
                        </a:lnSpc>
                        <a:spcBef>
                          <a:spcPts val="0"/>
                        </a:spcBef>
                        <a:spcAft>
                          <a:spcPts val="0"/>
                        </a:spcAft>
                        <a:buNone/>
                      </a:pPr>
                      <a:r>
                        <a:rPr b="1" lang="ru"/>
                        <a:t>Metric</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a:t>ADD</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a:t>ADD+k</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a:t>n</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10</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12</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a:t>Mean</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12.60</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12.33</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a:t>SD</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4.38</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4.25</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a:t>Median</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11.5</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13.0</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a:t>Min</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7</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5</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a:t>Max</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22</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700"/>
                        <a:t>18</a:t>
                      </a:r>
                      <a:endParaRPr sz="17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2 — Architectural solution categories</a:t>
            </a:r>
            <a:endParaRPr/>
          </a:p>
        </p:txBody>
      </p:sp>
      <p:graphicFrame>
        <p:nvGraphicFramePr>
          <p:cNvPr id="163" name="Google Shape;163;p30"/>
          <p:cNvGraphicFramePr/>
          <p:nvPr/>
        </p:nvGraphicFramePr>
        <p:xfrm>
          <a:off x="311700" y="1183375"/>
          <a:ext cx="3000000" cy="3000000"/>
        </p:xfrm>
        <a:graphic>
          <a:graphicData uri="http://schemas.openxmlformats.org/drawingml/2006/table">
            <a:tbl>
              <a:tblPr>
                <a:noFill/>
                <a:tableStyleId>{EBF06619-F15E-40E2-84F3-F13DFC7912E8}</a:tableStyleId>
              </a:tblPr>
              <a:tblGrid>
                <a:gridCol w="5135325"/>
                <a:gridCol w="3180400"/>
              </a:tblGrid>
              <a:tr h="190500">
                <a:tc>
                  <a:txBody>
                    <a:bodyPr/>
                    <a:lstStyle/>
                    <a:p>
                      <a:pPr indent="0" lvl="0" marL="0" rtl="0" algn="ctr">
                        <a:lnSpc>
                          <a:spcPct val="115000"/>
                        </a:lnSpc>
                        <a:spcBef>
                          <a:spcPts val="0"/>
                        </a:spcBef>
                        <a:spcAft>
                          <a:spcPts val="0"/>
                        </a:spcAft>
                        <a:buNone/>
                      </a:pPr>
                      <a:r>
                        <a:rPr b="1" lang="ru" sz="1300"/>
                        <a:t>Indicator</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300"/>
                        <a:t>Value</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300"/>
                        <a:t>Δ Mean (ADD+k − ADD)</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300"/>
                        <a:t>−0.27</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300"/>
                        <a:t>Welch t-test p-value</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300"/>
                        <a:t>0.887</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300"/>
                        <a:t>Mann–Whitney p-value</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300"/>
                        <a:t>0.947</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300"/>
                        <a:t>Cohen’s d</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300"/>
                        <a:t>−0.06</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300"/>
                        <a:t>Effect size interpretation</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300"/>
                        <a:t>negligible effect</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2 — Architectural solution categories</a:t>
            </a:r>
            <a:endParaRPr/>
          </a:p>
        </p:txBody>
      </p:sp>
      <p:graphicFrame>
        <p:nvGraphicFramePr>
          <p:cNvPr id="169" name="Google Shape;169;p31"/>
          <p:cNvGraphicFramePr/>
          <p:nvPr/>
        </p:nvGraphicFramePr>
        <p:xfrm>
          <a:off x="218525" y="1384425"/>
          <a:ext cx="3000000" cy="3000000"/>
        </p:xfrm>
        <a:graphic>
          <a:graphicData uri="http://schemas.openxmlformats.org/drawingml/2006/table">
            <a:tbl>
              <a:tblPr>
                <a:noFill/>
                <a:tableStyleId>{EBF06619-F15E-40E2-84F3-F13DFC7912E8}</a:tableStyleId>
              </a:tblPr>
              <a:tblGrid>
                <a:gridCol w="1847850"/>
                <a:gridCol w="7239000"/>
              </a:tblGrid>
              <a:tr h="190500">
                <a:tc>
                  <a:txBody>
                    <a:bodyPr/>
                    <a:lstStyle/>
                    <a:p>
                      <a:pPr indent="0" lvl="0" marL="0" rtl="0" algn="ctr">
                        <a:lnSpc>
                          <a:spcPct val="115000"/>
                        </a:lnSpc>
                        <a:spcBef>
                          <a:spcPts val="0"/>
                        </a:spcBef>
                        <a:spcAft>
                          <a:spcPts val="0"/>
                        </a:spcAft>
                        <a:buNone/>
                      </a:pPr>
                      <a:r>
                        <a:rPr b="1" lang="ru" sz="1100"/>
                        <a:t>Aspect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Result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Direction of difference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ADD is slightly higher, but the difference is practically zero.</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Statistical significance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No statistically significant difference was detected.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Effect size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The effect is negligible.</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Within-group stability</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The two groups are very similar: means, standard deviations, and medians are all close.</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Outliers</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100"/>
                        <a:t>In ADD, there is one high outlier: </a:t>
                      </a:r>
                      <a:r>
                        <a:rPr b="1" lang="ru" sz="1100"/>
                        <a:t>a.kovalev = 22</a:t>
                      </a:r>
                      <a:r>
                        <a:rPr lang="ru" sz="1100"/>
                        <a:t>. In ADD+k, there are two low outliers: </a:t>
                      </a:r>
                      <a:r>
                        <a:rPr b="1" lang="ru" sz="1100"/>
                        <a:t>Kudasov = 5</a:t>
                      </a:r>
                      <a:r>
                        <a:rPr lang="ru" sz="1100"/>
                        <a:t>, </a:t>
                      </a:r>
                      <a:r>
                        <a:rPr b="1" lang="ru" sz="1100"/>
                        <a:t>m.naser = 5</a:t>
                      </a:r>
                      <a:r>
                        <a:rPr lang="ru" sz="1100"/>
                        <a:t>.</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b="1" lang="ru" sz="1100"/>
                        <a:t>Sensitivity to individual cases</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Leave-one-out analysis shows that the sign of the mean difference can change when specific submissions are removed.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b="1" lang="ru" sz="1100"/>
                        <a:t>Substantive conclusion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Based on Table 2, ADD and ADD+k do not differ meaningfully in the number of architectural solution categories represented.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170" name="Google Shape;170;p31"/>
          <p:cNvSpPr txBox="1"/>
          <p:nvPr/>
        </p:nvSpPr>
        <p:spPr>
          <a:xfrm>
            <a:off x="397550" y="817900"/>
            <a:ext cx="872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100">
                <a:solidFill>
                  <a:srgbClr val="6AA84F"/>
                </a:solidFill>
              </a:rPr>
              <a:t>По архитектурным категориям решений ADD и ADD+k по сути не различаются. Разница почти нулевая, статистически незначима, и чувствительна к отдельным работам. Следовательно, по этой таблице нельзя утверждать, что один метод систематически лучше другого</a:t>
            </a:r>
            <a:endParaRPr sz="1100">
              <a:solidFill>
                <a:srgbClr val="6AA84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2 — Architectural solution categories</a:t>
            </a:r>
            <a:endParaRPr/>
          </a:p>
        </p:txBody>
      </p:sp>
      <p:graphicFrame>
        <p:nvGraphicFramePr>
          <p:cNvPr id="176" name="Google Shape;176;p32"/>
          <p:cNvGraphicFramePr/>
          <p:nvPr/>
        </p:nvGraphicFramePr>
        <p:xfrm>
          <a:off x="218525" y="1384425"/>
          <a:ext cx="3000000" cy="3000000"/>
        </p:xfrm>
        <a:graphic>
          <a:graphicData uri="http://schemas.openxmlformats.org/drawingml/2006/table">
            <a:tbl>
              <a:tblPr>
                <a:noFill/>
                <a:tableStyleId>{EBF06619-F15E-40E2-84F3-F13DFC7912E8}</a:tableStyleId>
              </a:tblPr>
              <a:tblGrid>
                <a:gridCol w="1847850"/>
                <a:gridCol w="7239000"/>
              </a:tblGrid>
              <a:tr h="190500">
                <a:tc>
                  <a:txBody>
                    <a:bodyPr/>
                    <a:lstStyle/>
                    <a:p>
                      <a:pPr indent="0" lvl="0" marL="0" rtl="0" algn="ctr">
                        <a:lnSpc>
                          <a:spcPct val="115000"/>
                        </a:lnSpc>
                        <a:spcBef>
                          <a:spcPts val="0"/>
                        </a:spcBef>
                        <a:spcAft>
                          <a:spcPts val="0"/>
                        </a:spcAft>
                        <a:buNone/>
                      </a:pPr>
                      <a:r>
                        <a:rPr b="1" lang="ru" sz="1100"/>
                        <a:t>Aspect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Result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Direction of difference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ADD is slightly higher, but the difference is practically zero.</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Statistical significance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No statistically significant difference was detected.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Effect size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The effect is negligible.</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Within-group stability</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The two groups are very similar: means, standard deviations, and medians are all close.</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Outliers</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100"/>
                        <a:t>In ADD, there is one high outlier: </a:t>
                      </a:r>
                      <a:r>
                        <a:rPr b="1" lang="ru" sz="1100"/>
                        <a:t>a.kovalev = 22</a:t>
                      </a:r>
                      <a:r>
                        <a:rPr lang="ru" sz="1100"/>
                        <a:t>. In ADD+k, there are two low outliers: </a:t>
                      </a:r>
                      <a:r>
                        <a:rPr b="1" lang="ru" sz="1100"/>
                        <a:t>Kudasov = 5</a:t>
                      </a:r>
                      <a:r>
                        <a:rPr lang="ru" sz="1100"/>
                        <a:t>, </a:t>
                      </a:r>
                      <a:r>
                        <a:rPr b="1" lang="ru" sz="1100"/>
                        <a:t>m.naser = 5</a:t>
                      </a:r>
                      <a:r>
                        <a:rPr lang="ru" sz="1100"/>
                        <a:t>.</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b="1" lang="ru" sz="1100"/>
                        <a:t>Sensitivity to individual cases</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Leave-one-out analysis shows that the sign of the mean difference can change when specific submissions are removed.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b="1" lang="ru" sz="1100"/>
                        <a:t>Substantive conclusion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Based on Table 2, ADD and ADD+k do not differ meaningfully in the number of architectural solution categories represented.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177" name="Google Shape;177;p32"/>
          <p:cNvSpPr txBox="1"/>
          <p:nvPr/>
        </p:nvSpPr>
        <p:spPr>
          <a:xfrm>
            <a:off x="397550" y="817900"/>
            <a:ext cx="872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100">
                <a:solidFill>
                  <a:srgbClr val="6AA84F"/>
                </a:solidFill>
              </a:rPr>
              <a:t>По архитектурным категориям решений ADD и ADD+k по сути не различаются. Разница почти нулевая, статистически незначима, и чувствительна к отдельным работам. Следовательно, по этой таблице нельзя утверждать, что один метод систематически лучше другого</a:t>
            </a:r>
            <a:endParaRPr sz="1100">
              <a:solidFill>
                <a:srgbClr val="6AA84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72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3 — Traceability, justification, consistency, comparability, effort</a:t>
            </a:r>
            <a:endParaRPr/>
          </a:p>
        </p:txBody>
      </p:sp>
      <p:graphicFrame>
        <p:nvGraphicFramePr>
          <p:cNvPr id="183" name="Google Shape;183;p33"/>
          <p:cNvGraphicFramePr/>
          <p:nvPr/>
        </p:nvGraphicFramePr>
        <p:xfrm>
          <a:off x="162750" y="1456900"/>
          <a:ext cx="3000000" cy="3000000"/>
        </p:xfrm>
        <a:graphic>
          <a:graphicData uri="http://schemas.openxmlformats.org/drawingml/2006/table">
            <a:tbl>
              <a:tblPr>
                <a:noFill/>
                <a:tableStyleId>{EBF06619-F15E-40E2-84F3-F13DFC7912E8}</a:tableStyleId>
              </a:tblPr>
              <a:tblGrid>
                <a:gridCol w="3283100"/>
                <a:gridCol w="2310325"/>
                <a:gridCol w="3343900"/>
              </a:tblGrid>
              <a:tr h="190500">
                <a:tc>
                  <a:txBody>
                    <a:bodyPr/>
                    <a:lstStyle/>
                    <a:p>
                      <a:pPr indent="0" lvl="0" marL="0" rtl="0" algn="ctr">
                        <a:lnSpc>
                          <a:spcPct val="115000"/>
                        </a:lnSpc>
                        <a:spcBef>
                          <a:spcPts val="0"/>
                        </a:spcBef>
                        <a:spcAft>
                          <a:spcPts val="0"/>
                        </a:spcAft>
                        <a:buNone/>
                      </a:pPr>
                      <a:r>
                        <a:rPr b="1" lang="ru" sz="1100"/>
                        <a:t>Metric</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ADD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ADD+k</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12</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Mean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32.70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30.83</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SD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5.10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5.89</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Median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34.5</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33.0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Min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24</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19</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Max</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38</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37</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72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3 — Traceability, justification, consistency, comparability, effort</a:t>
            </a:r>
            <a:endParaRPr/>
          </a:p>
        </p:txBody>
      </p:sp>
      <p:graphicFrame>
        <p:nvGraphicFramePr>
          <p:cNvPr id="189" name="Google Shape;189;p34"/>
          <p:cNvGraphicFramePr/>
          <p:nvPr/>
        </p:nvGraphicFramePr>
        <p:xfrm>
          <a:off x="311700" y="1570800"/>
          <a:ext cx="3000000" cy="3000000"/>
        </p:xfrm>
        <a:graphic>
          <a:graphicData uri="http://schemas.openxmlformats.org/drawingml/2006/table">
            <a:tbl>
              <a:tblPr>
                <a:noFill/>
                <a:tableStyleId>{EBF06619-F15E-40E2-84F3-F13DFC7912E8}</a:tableStyleId>
              </a:tblPr>
              <a:tblGrid>
                <a:gridCol w="4037050"/>
                <a:gridCol w="4656375"/>
              </a:tblGrid>
              <a:tr h="190500">
                <a:tc>
                  <a:txBody>
                    <a:bodyPr/>
                    <a:lstStyle/>
                    <a:p>
                      <a:pPr indent="0" lvl="0" marL="0" rtl="0" algn="ctr">
                        <a:lnSpc>
                          <a:spcPct val="115000"/>
                        </a:lnSpc>
                        <a:spcBef>
                          <a:spcPts val="0"/>
                        </a:spcBef>
                        <a:spcAft>
                          <a:spcPts val="0"/>
                        </a:spcAft>
                        <a:buNone/>
                      </a:pPr>
                      <a:r>
                        <a:rPr b="1" lang="ru" sz="1100"/>
                        <a:t>Indicator</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Value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Δ Mean (ADD+k − ADD)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−1.87</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Welch t-test p-value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0.435</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Mann–Whitney p-value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0.321</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Cohen’s 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−0.34</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Effect size interpretation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small effect (in favor of ADD)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72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Table 3 — Traceability, justification, consistency, comparability, effort</a:t>
            </a:r>
            <a:endParaRPr/>
          </a:p>
        </p:txBody>
      </p:sp>
      <p:graphicFrame>
        <p:nvGraphicFramePr>
          <p:cNvPr id="195" name="Google Shape;195;p35"/>
          <p:cNvGraphicFramePr/>
          <p:nvPr/>
        </p:nvGraphicFramePr>
        <p:xfrm>
          <a:off x="311700" y="1550100"/>
          <a:ext cx="3000000" cy="3000000"/>
        </p:xfrm>
        <a:graphic>
          <a:graphicData uri="http://schemas.openxmlformats.org/drawingml/2006/table">
            <a:tbl>
              <a:tblPr>
                <a:noFill/>
                <a:tableStyleId>{EBF06619-F15E-40E2-84F3-F13DFC7912E8}</a:tableStyleId>
              </a:tblPr>
              <a:tblGrid>
                <a:gridCol w="1695450"/>
                <a:gridCol w="7143750"/>
              </a:tblGrid>
              <a:tr h="190500">
                <a:tc>
                  <a:txBody>
                    <a:bodyPr/>
                    <a:lstStyle/>
                    <a:p>
                      <a:pPr indent="0" lvl="0" marL="0" rtl="0" algn="ctr">
                        <a:lnSpc>
                          <a:spcPct val="115000"/>
                        </a:lnSpc>
                        <a:spcBef>
                          <a:spcPts val="0"/>
                        </a:spcBef>
                        <a:spcAft>
                          <a:spcPts val="0"/>
                        </a:spcAft>
                        <a:buNone/>
                      </a:pPr>
                      <a:r>
                        <a:rPr b="1" lang="ru" sz="1100"/>
                        <a:t>Scenario</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Result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ADD+k without a.blinova</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sz="1100"/>
                        <a:t>Mean = </a:t>
                      </a:r>
                      <a:r>
                        <a:rPr b="1" lang="ru" sz="1100"/>
                        <a:t>31.91</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Welch t-test p-value</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ru" sz="1100"/>
                        <a:t>0.719</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Cohen’s 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ru" sz="1100"/>
                        <a:t>−0.16</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ru" sz="1100"/>
                        <a:t>Interpretation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Removing the weakest ADD+k case reduces the negative gap, but ADD+k still does not become convincingly better.</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196" name="Google Shape;196;p35"/>
          <p:cNvSpPr txBox="1"/>
          <p:nvPr/>
        </p:nvSpPr>
        <p:spPr>
          <a:xfrm>
            <a:off x="269200" y="4096800"/>
            <a:ext cx="7983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solidFill>
                  <a:srgbClr val="6AA84F"/>
                </a:solidFill>
              </a:rPr>
              <a:t>По Table 3 ADD+k не показывает убедимого улучшения. Если смотреть на общий суммарный показатель, то ADD даже выглядит немного лучше, но различие статистически незначимо. Это означает, что дополнительные аналитические механизмы ADD+k не гарантируют более сильную дисциплину обоснования, согласованности и сопоставимости.</a:t>
            </a:r>
            <a:endParaRPr>
              <a:solidFill>
                <a:srgbClr val="6AA84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graphicFrame>
        <p:nvGraphicFramePr>
          <p:cNvPr id="201" name="Google Shape;201;p36"/>
          <p:cNvGraphicFramePr/>
          <p:nvPr/>
        </p:nvGraphicFramePr>
        <p:xfrm>
          <a:off x="347975" y="76925"/>
          <a:ext cx="3000000" cy="3000000"/>
        </p:xfrm>
        <a:graphic>
          <a:graphicData uri="http://schemas.openxmlformats.org/drawingml/2006/table">
            <a:tbl>
              <a:tblPr>
                <a:noFill/>
                <a:tableStyleId>{D82FC7FA-D89C-4C1D-A151-8E32F19231D6}</a:tableStyleId>
              </a:tblPr>
              <a:tblGrid>
                <a:gridCol w="1704975"/>
                <a:gridCol w="1704975"/>
                <a:gridCol w="1704975"/>
                <a:gridCol w="1704975"/>
                <a:gridCol w="1704975"/>
              </a:tblGrid>
              <a:tr h="381000">
                <a:tc>
                  <a:txBody>
                    <a:bodyPr/>
                    <a:lstStyle/>
                    <a:p>
                      <a:pPr indent="0" lvl="0" marL="0" rtl="0" algn="ctr">
                        <a:lnSpc>
                          <a:spcPct val="115000"/>
                        </a:lnSpc>
                        <a:spcBef>
                          <a:spcPts val="0"/>
                        </a:spcBef>
                        <a:spcAft>
                          <a:spcPts val="0"/>
                        </a:spcAft>
                        <a:buNone/>
                      </a:pPr>
                      <a:r>
                        <a:rPr b="1" lang="ru" sz="1300">
                          <a:solidFill>
                            <a:schemeClr val="accent1"/>
                          </a:solidFill>
                        </a:rPr>
                        <a:t>Rese</a:t>
                      </a:r>
                      <a:r>
                        <a:rPr b="1" lang="ru" sz="1300">
                          <a:solidFill>
                            <a:schemeClr val="accent1"/>
                          </a:solidFill>
                        </a:rPr>
                        <a:t>arch Ques</a:t>
                      </a:r>
                      <a:r>
                        <a:rPr b="1" lang="ru" sz="1300">
                          <a:solidFill>
                            <a:schemeClr val="accent1"/>
                          </a:solidFill>
                        </a:rPr>
                        <a:t>tion</a:t>
                      </a:r>
                      <a:endParaRPr b="1" sz="1300">
                        <a:solidFill>
                          <a:schemeClr val="accent1"/>
                        </a:solidFill>
                      </a:endParaRPr>
                    </a:p>
                  </a:txBody>
                  <a:tcPr marT="91425" marB="91425" marR="91425" marL="91425"/>
                </a:tc>
                <a:tc>
                  <a:txBody>
                    <a:bodyPr/>
                    <a:lstStyle/>
                    <a:p>
                      <a:pPr indent="0" lvl="0" marL="0" rtl="0" algn="ctr">
                        <a:lnSpc>
                          <a:spcPct val="115000"/>
                        </a:lnSpc>
                        <a:spcBef>
                          <a:spcPts val="0"/>
                        </a:spcBef>
                        <a:spcAft>
                          <a:spcPts val="0"/>
                        </a:spcAft>
                        <a:buNone/>
                      </a:pPr>
                      <a:r>
                        <a:rPr b="1" lang="ru" sz="1300">
                          <a:solidFill>
                            <a:schemeClr val="accent1"/>
                          </a:solidFill>
                        </a:rPr>
                        <a:t>What the RQ asks</a:t>
                      </a:r>
                      <a:endParaRPr b="1" sz="1300">
                        <a:solidFill>
                          <a:schemeClr val="accent1"/>
                        </a:solidFill>
                      </a:endParaRPr>
                    </a:p>
                  </a:txBody>
                  <a:tcPr marT="91425" marB="91425" marR="91425" marL="91425"/>
                </a:tc>
                <a:tc>
                  <a:txBody>
                    <a:bodyPr/>
                    <a:lstStyle/>
                    <a:p>
                      <a:pPr indent="0" lvl="0" marL="0" rtl="0" algn="ctr">
                        <a:lnSpc>
                          <a:spcPct val="115000"/>
                        </a:lnSpc>
                        <a:spcBef>
                          <a:spcPts val="0"/>
                        </a:spcBef>
                        <a:spcAft>
                          <a:spcPts val="0"/>
                        </a:spcAft>
                        <a:buNone/>
                      </a:pPr>
                      <a:r>
                        <a:rPr b="1" lang="ru" sz="1300">
                          <a:solidFill>
                            <a:schemeClr val="accent1"/>
                          </a:solidFill>
                        </a:rPr>
                        <a:t>Tables used</a:t>
                      </a:r>
                      <a:endParaRPr b="1" sz="1300">
                        <a:solidFill>
                          <a:schemeClr val="accent1"/>
                        </a:solidFill>
                      </a:endParaRPr>
                    </a:p>
                  </a:txBody>
                  <a:tcPr marT="91425" marB="91425" marR="91425" marL="91425"/>
                </a:tc>
                <a:tc>
                  <a:txBody>
                    <a:bodyPr/>
                    <a:lstStyle/>
                    <a:p>
                      <a:pPr indent="0" lvl="0" marL="0" rtl="0" algn="ctr">
                        <a:lnSpc>
                          <a:spcPct val="115000"/>
                        </a:lnSpc>
                        <a:spcBef>
                          <a:spcPts val="0"/>
                        </a:spcBef>
                        <a:spcAft>
                          <a:spcPts val="0"/>
                        </a:spcAft>
                        <a:buNone/>
                      </a:pPr>
                      <a:r>
                        <a:rPr b="1" lang="ru" sz="1300">
                          <a:solidFill>
                            <a:schemeClr val="accent1"/>
                          </a:solidFill>
                        </a:rPr>
                        <a:t>Indicators included in the score</a:t>
                      </a:r>
                      <a:endParaRPr b="1" sz="1300">
                        <a:solidFill>
                          <a:schemeClr val="accent1"/>
                        </a:solidFill>
                      </a:endParaRPr>
                    </a:p>
                  </a:txBody>
                  <a:tcPr marT="91425" marB="91425" marR="91425" marL="91425"/>
                </a:tc>
                <a:tc>
                  <a:txBody>
                    <a:bodyPr/>
                    <a:lstStyle/>
                    <a:p>
                      <a:pPr indent="0" lvl="0" marL="0" rtl="0" algn="ctr">
                        <a:lnSpc>
                          <a:spcPct val="115000"/>
                        </a:lnSpc>
                        <a:spcBef>
                          <a:spcPts val="0"/>
                        </a:spcBef>
                        <a:spcAft>
                          <a:spcPts val="0"/>
                        </a:spcAft>
                        <a:buNone/>
                      </a:pPr>
                      <a:r>
                        <a:rPr b="1" lang="ru" sz="1300">
                          <a:solidFill>
                            <a:schemeClr val="accent1"/>
                          </a:solidFill>
                        </a:rPr>
                        <a:t>Score formula</a:t>
                      </a:r>
                      <a:endParaRPr b="1" sz="1300">
                        <a:solidFill>
                          <a:schemeClr val="accent1"/>
                        </a:solidFill>
                      </a:endParaRPr>
                    </a:p>
                  </a:txBody>
                  <a:tcPr marT="91425" marB="91425" marR="91425" marL="91425"/>
                </a:tc>
              </a:tr>
              <a:tr h="381000">
                <a:tc>
                  <a:txBody>
                    <a:bodyPr/>
                    <a:lstStyle/>
                    <a:p>
                      <a:pPr indent="0" lvl="0" marL="0" rtl="0" algn="l">
                        <a:spcBef>
                          <a:spcPts val="0"/>
                        </a:spcBef>
                        <a:spcAft>
                          <a:spcPts val="0"/>
                        </a:spcAft>
                        <a:buNone/>
                      </a:pPr>
                      <a:r>
                        <a:rPr b="1" lang="ru" sz="2100">
                          <a:solidFill>
                            <a:schemeClr val="accent5"/>
                          </a:solidFill>
                        </a:rPr>
                        <a:t>RQ1</a:t>
                      </a:r>
                      <a:endParaRPr b="1" sz="2100">
                        <a:solidFill>
                          <a:schemeClr val="accent5"/>
                        </a:solidFill>
                      </a:endParaRPr>
                    </a:p>
                  </a:txBody>
                  <a:tcPr marT="91425" marB="91425" marR="91425" marL="91425"/>
                </a:tc>
                <a:tc>
                  <a:txBody>
                    <a:bodyPr/>
                    <a:lstStyle/>
                    <a:p>
                      <a:pPr indent="0" lvl="0" marL="0" rtl="0" algn="l">
                        <a:spcBef>
                          <a:spcPts val="0"/>
                        </a:spcBef>
                        <a:spcAft>
                          <a:spcPts val="0"/>
                        </a:spcAft>
                        <a:buNone/>
                      </a:pPr>
                      <a:r>
                        <a:rPr b="1" i="1" lang="ru" sz="1100"/>
                        <a:t>Does ADD+k improve the traceability of architectural decisions compared to basic ADD?</a:t>
                      </a:r>
                      <a:endParaRPr b="1" i="1" sz="1100"/>
                    </a:p>
                  </a:txBody>
                  <a:tcPr marT="91425" marB="91425" marR="91425" marL="91425"/>
                </a:tc>
                <a:tc>
                  <a:txBody>
                    <a:bodyPr/>
                    <a:lstStyle/>
                    <a:p>
                      <a:pPr indent="0" lvl="0" marL="0" rtl="0" algn="l">
                        <a:spcBef>
                          <a:spcPts val="0"/>
                        </a:spcBef>
                        <a:spcAft>
                          <a:spcPts val="0"/>
                        </a:spcAft>
                        <a:buNone/>
                      </a:pPr>
                      <a:r>
                        <a:rPr b="1" lang="ru" sz="1600">
                          <a:solidFill>
                            <a:schemeClr val="accent5"/>
                          </a:solidFill>
                        </a:rPr>
                        <a:t>Table 3 only</a:t>
                      </a:r>
                      <a:endParaRPr b="1" sz="1600">
                        <a:solidFill>
                          <a:schemeClr val="accent5"/>
                        </a:solidFill>
                      </a:endParaRPr>
                    </a:p>
                  </a:txBody>
                  <a:tcPr marT="91425" marB="91425" marR="91425" marL="91425"/>
                </a:tc>
                <a:tc>
                  <a:txBody>
                    <a:bodyPr/>
                    <a:lstStyle/>
                    <a:p>
                      <a:pPr indent="0" lvl="0" marL="0" rtl="0" algn="l">
                        <a:spcBef>
                          <a:spcPts val="0"/>
                        </a:spcBef>
                        <a:spcAft>
                          <a:spcPts val="0"/>
                        </a:spcAft>
                        <a:buNone/>
                      </a:pPr>
                      <a:r>
                        <a:rPr lang="ru" sz="900"/>
                        <a:t>Quality_Attributes_Explicit, QA_Decision_Link, Decision_Artifact_Link, QA_Path_Complete, Coverage_Transparent</a:t>
                      </a:r>
                      <a:endParaRPr sz="900"/>
                    </a:p>
                  </a:txBody>
                  <a:tcPr marT="91425" marB="91425" marR="91425" marL="91425"/>
                </a:tc>
                <a:tc>
                  <a:txBody>
                    <a:bodyPr/>
                    <a:lstStyle/>
                    <a:p>
                      <a:pPr indent="0" lvl="0" marL="0" rtl="0" algn="l">
                        <a:spcBef>
                          <a:spcPts val="0"/>
                        </a:spcBef>
                        <a:spcAft>
                          <a:spcPts val="0"/>
                        </a:spcAft>
                        <a:buNone/>
                      </a:pPr>
                      <a:r>
                        <a:rPr b="1" lang="ru" sz="900"/>
                        <a:t>RQ1 = Quality_Attributes_Explicit + QA_Decision_Link + Decision_Artifact_Link + QA_Path_Complete + Coverage_Transparent</a:t>
                      </a:r>
                      <a:endParaRPr b="1" sz="900"/>
                    </a:p>
                  </a:txBody>
                  <a:tcPr marT="91425" marB="91425" marR="91425" marL="91425"/>
                </a:tc>
              </a:tr>
              <a:tr h="381000">
                <a:tc>
                  <a:txBody>
                    <a:bodyPr/>
                    <a:lstStyle/>
                    <a:p>
                      <a:pPr indent="0" lvl="0" marL="0" rtl="0" algn="l">
                        <a:spcBef>
                          <a:spcPts val="0"/>
                        </a:spcBef>
                        <a:spcAft>
                          <a:spcPts val="0"/>
                        </a:spcAft>
                        <a:buNone/>
                      </a:pPr>
                      <a:r>
                        <a:rPr b="1" lang="ru" sz="2100">
                          <a:solidFill>
                            <a:schemeClr val="accent5"/>
                          </a:solidFill>
                        </a:rPr>
                        <a:t>RQ2</a:t>
                      </a:r>
                      <a:endParaRPr b="1" sz="2100">
                        <a:solidFill>
                          <a:schemeClr val="accent5"/>
                        </a:solidFill>
                      </a:endParaRPr>
                    </a:p>
                  </a:txBody>
                  <a:tcPr marT="91425" marB="91425" marR="91425" marL="91425"/>
                </a:tc>
                <a:tc>
                  <a:txBody>
                    <a:bodyPr/>
                    <a:lstStyle/>
                    <a:p>
                      <a:pPr indent="0" lvl="0" marL="0" rtl="0" algn="l">
                        <a:spcBef>
                          <a:spcPts val="0"/>
                        </a:spcBef>
                        <a:spcAft>
                          <a:spcPts val="0"/>
                        </a:spcAft>
                        <a:buNone/>
                      </a:pPr>
                      <a:r>
                        <a:rPr b="1" i="1" lang="ru" sz="1100"/>
                        <a:t>Does ADD+k improve the quality and consistency of architectural decision justification compared to basic ADD?</a:t>
                      </a:r>
                      <a:endParaRPr b="1" i="1" sz="1100"/>
                    </a:p>
                  </a:txBody>
                  <a:tcPr marT="91425" marB="91425" marR="91425" marL="91425"/>
                </a:tc>
                <a:tc>
                  <a:txBody>
                    <a:bodyPr/>
                    <a:lstStyle/>
                    <a:p>
                      <a:pPr indent="0" lvl="0" marL="0" rtl="0" algn="l">
                        <a:spcBef>
                          <a:spcPts val="0"/>
                        </a:spcBef>
                        <a:spcAft>
                          <a:spcPts val="0"/>
                        </a:spcAft>
                        <a:buNone/>
                      </a:pPr>
                      <a:r>
                        <a:rPr b="1" lang="ru" sz="1600">
                          <a:solidFill>
                            <a:schemeClr val="accent5"/>
                          </a:solidFill>
                        </a:rPr>
                        <a:t>Table 1 + Table 2 + Table 3</a:t>
                      </a:r>
                      <a:endParaRPr b="1" sz="1600">
                        <a:solidFill>
                          <a:schemeClr val="accent5"/>
                        </a:solidFill>
                      </a:endParaRPr>
                    </a:p>
                  </a:txBody>
                  <a:tcPr marT="91425" marB="91425" marR="91425" marL="91425"/>
                </a:tc>
                <a:tc>
                  <a:txBody>
                    <a:bodyPr/>
                    <a:lstStyle/>
                    <a:p>
                      <a:pPr indent="0" lvl="0" marL="0" rtl="0" algn="l">
                        <a:spcBef>
                          <a:spcPts val="0"/>
                        </a:spcBef>
                        <a:spcAft>
                          <a:spcPts val="0"/>
                        </a:spcAft>
                        <a:buNone/>
                      </a:pPr>
                      <a:r>
                        <a:rPr lang="ru" sz="900"/>
                        <a:t>From </a:t>
                      </a:r>
                      <a:r>
                        <a:rPr b="1" lang="ru" sz="900"/>
                        <a:t>Table 1</a:t>
                      </a:r>
                      <a:r>
                        <a:rPr lang="ru" sz="900"/>
                        <a:t>: all quality-attribute coverage indicators; from </a:t>
                      </a:r>
                      <a:r>
                        <a:rPr b="1" lang="ru" sz="900"/>
                        <a:t>Table 2</a:t>
                      </a:r>
                      <a:r>
                        <a:rPr lang="ru" sz="900"/>
                        <a:t>: all architectural-category indicators; from </a:t>
                      </a:r>
                      <a:r>
                        <a:rPr b="1" lang="ru" sz="900"/>
                        <a:t>Table 3</a:t>
                      </a:r>
                      <a:r>
                        <a:rPr lang="ru" sz="900"/>
                        <a:t>: Rationale_Explicit, Tradeoff_Explicit, Justification_Structured, Internal_Consistency</a:t>
                      </a:r>
                      <a:endParaRPr sz="900"/>
                    </a:p>
                  </a:txBody>
                  <a:tcPr marT="91425" marB="91425" marR="91425" marL="91425"/>
                </a:tc>
                <a:tc>
                  <a:txBody>
                    <a:bodyPr/>
                    <a:lstStyle/>
                    <a:p>
                      <a:pPr indent="0" lvl="0" marL="0" rtl="0" algn="l">
                        <a:spcBef>
                          <a:spcPts val="0"/>
                        </a:spcBef>
                        <a:spcAft>
                          <a:spcPts val="0"/>
                        </a:spcAft>
                        <a:buNone/>
                      </a:pPr>
                      <a:r>
                        <a:rPr b="1" lang="ru" sz="900"/>
                        <a:t>RQ2 = Quality Attribute Coverage Count + Architectural Category Count + Justification Quality Count</a:t>
                      </a:r>
                      <a:endParaRPr b="1" sz="900"/>
                    </a:p>
                  </a:txBody>
                  <a:tcPr marT="91425" marB="91425" marR="91425" marL="91425"/>
                </a:tc>
              </a:tr>
              <a:tr h="381000">
                <a:tc>
                  <a:txBody>
                    <a:bodyPr/>
                    <a:lstStyle/>
                    <a:p>
                      <a:pPr indent="0" lvl="0" marL="0" rtl="0" algn="l">
                        <a:spcBef>
                          <a:spcPts val="0"/>
                        </a:spcBef>
                        <a:spcAft>
                          <a:spcPts val="0"/>
                        </a:spcAft>
                        <a:buNone/>
                      </a:pPr>
                      <a:r>
                        <a:rPr b="1" lang="ru" sz="2100">
                          <a:solidFill>
                            <a:schemeClr val="accent5"/>
                          </a:solidFill>
                        </a:rPr>
                        <a:t>RQ3</a:t>
                      </a:r>
                      <a:endParaRPr b="1" sz="2100">
                        <a:solidFill>
                          <a:schemeClr val="accent5"/>
                        </a:solidFill>
                      </a:endParaRPr>
                    </a:p>
                  </a:txBody>
                  <a:tcPr marT="91425" marB="91425" marR="91425" marL="91425"/>
                </a:tc>
                <a:tc>
                  <a:txBody>
                    <a:bodyPr/>
                    <a:lstStyle/>
                    <a:p>
                      <a:pPr indent="0" lvl="0" marL="0" rtl="0" algn="l">
                        <a:spcBef>
                          <a:spcPts val="0"/>
                        </a:spcBef>
                        <a:spcAft>
                          <a:spcPts val="0"/>
                        </a:spcAft>
                        <a:buNone/>
                      </a:pPr>
                      <a:r>
                        <a:rPr b="1" i="1" lang="ru" sz="1100"/>
                        <a:t>Does ADD+k improve the comparability of student-produced architectural solutions without imposing excessive analytical overhead?</a:t>
                      </a:r>
                      <a:endParaRPr b="1" i="1" sz="1100"/>
                    </a:p>
                  </a:txBody>
                  <a:tcPr marT="91425" marB="91425" marR="91425" marL="91425"/>
                </a:tc>
                <a:tc>
                  <a:txBody>
                    <a:bodyPr/>
                    <a:lstStyle/>
                    <a:p>
                      <a:pPr indent="0" lvl="0" marL="0" rtl="0" algn="l">
                        <a:spcBef>
                          <a:spcPts val="0"/>
                        </a:spcBef>
                        <a:spcAft>
                          <a:spcPts val="0"/>
                        </a:spcAft>
                        <a:buNone/>
                      </a:pPr>
                      <a:r>
                        <a:rPr b="1" lang="ru" sz="1600">
                          <a:solidFill>
                            <a:schemeClr val="accent5"/>
                          </a:solidFill>
                        </a:rPr>
                        <a:t>Table 2 + Table 3</a:t>
                      </a:r>
                      <a:endParaRPr b="1" sz="1600">
                        <a:solidFill>
                          <a:schemeClr val="accent5"/>
                        </a:solidFill>
                      </a:endParaRPr>
                    </a:p>
                  </a:txBody>
                  <a:tcPr marT="91425" marB="91425" marR="91425" marL="91425"/>
                </a:tc>
                <a:tc>
                  <a:txBody>
                    <a:bodyPr/>
                    <a:lstStyle/>
                    <a:p>
                      <a:pPr indent="0" lvl="0" marL="0" rtl="0" algn="l">
                        <a:spcBef>
                          <a:spcPts val="0"/>
                        </a:spcBef>
                        <a:spcAft>
                          <a:spcPts val="0"/>
                        </a:spcAft>
                        <a:buNone/>
                      </a:pPr>
                      <a:r>
                        <a:rPr lang="ru" sz="900"/>
                        <a:t>From </a:t>
                      </a:r>
                      <a:r>
                        <a:rPr b="1" lang="ru" sz="900"/>
                        <a:t>Table 3</a:t>
                      </a:r>
                      <a:r>
                        <a:rPr lang="ru" sz="900"/>
                        <a:t>: Cross_Group_Comparability, Overhead_Acceptable, Overengineering_Absent, Iteration_Goal_Correct, Improvement_vs_Previous, Previous_Issues_Addressed; from </a:t>
                      </a:r>
                      <a:r>
                        <a:rPr b="1" lang="ru" sz="900"/>
                        <a:t>Table 2</a:t>
                      </a:r>
                      <a:r>
                        <a:rPr lang="ru" sz="900"/>
                        <a:t>: all architectural-category indicators</a:t>
                      </a:r>
                      <a:endParaRPr sz="900"/>
                    </a:p>
                  </a:txBody>
                  <a:tcPr marT="91425" marB="91425" marR="91425" marL="91425"/>
                </a:tc>
                <a:tc>
                  <a:txBody>
                    <a:bodyPr/>
                    <a:lstStyle/>
                    <a:p>
                      <a:pPr indent="0" lvl="0" marL="0" rtl="0" algn="l">
                        <a:spcBef>
                          <a:spcPts val="0"/>
                        </a:spcBef>
                        <a:spcAft>
                          <a:spcPts val="0"/>
                        </a:spcAft>
                        <a:buNone/>
                      </a:pPr>
                      <a:r>
                        <a:rPr b="1" lang="ru" sz="900"/>
                        <a:t>RQ3 = Comparability and Effort Count + Architectural Category Count</a:t>
                      </a:r>
                      <a:endParaRPr b="1" sz="900"/>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From Student Submissions to Binary Evidence Tables</a:t>
            </a:r>
            <a:endParaRPr/>
          </a:p>
        </p:txBody>
      </p:sp>
      <p:sp>
        <p:nvSpPr>
          <p:cNvPr id="207" name="Google Shape;207;p37"/>
          <p:cNvSpPr txBox="1"/>
          <p:nvPr>
            <p:ph idx="1" type="body"/>
          </p:nvPr>
        </p:nvSpPr>
        <p:spPr>
          <a:xfrm>
            <a:off x="364325" y="899325"/>
            <a:ext cx="8832300" cy="3852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i="1" lang="ru" sz="1100">
                <a:solidFill>
                  <a:srgbClr val="6AA84F"/>
                </a:solidFill>
              </a:rPr>
              <a:t>RQ1 </a:t>
            </a:r>
            <a:r>
              <a:rPr i="1" lang="ru" sz="1100">
                <a:solidFill>
                  <a:srgbClr val="6AA84F"/>
                </a:solidFill>
              </a:rPr>
              <a:t>использует только таблицу 3, потому что этот исследовательский вопрос проверяет именно прослеживаемость архитектурных решений. Здесь важно понять, можно ли по работе студента восстановить полную цепочку: от заявленного атрибута качества — к выбранному архитектурному решению — и далее к тому артефакту, в котором это решение зафиксировано. Поэтому для RQ1 нужны только те показатели, которые отражают явность этой связи и полноту такой цепочки.</a:t>
            </a:r>
            <a:endParaRPr i="1" sz="1100">
              <a:solidFill>
                <a:srgbClr val="6AA84F"/>
              </a:solidFill>
            </a:endParaRPr>
          </a:p>
          <a:p>
            <a:pPr indent="0" lvl="0" marL="0" rtl="0" algn="l">
              <a:spcBef>
                <a:spcPts val="1200"/>
              </a:spcBef>
              <a:spcAft>
                <a:spcPts val="0"/>
              </a:spcAft>
              <a:buNone/>
            </a:pPr>
            <a:r>
              <a:rPr b="1" i="1" lang="ru" sz="1100">
                <a:solidFill>
                  <a:srgbClr val="6AA84F"/>
                </a:solidFill>
              </a:rPr>
              <a:t>RQ2 </a:t>
            </a:r>
            <a:r>
              <a:rPr i="1" lang="ru" sz="1100">
                <a:solidFill>
                  <a:srgbClr val="6AA84F"/>
                </a:solidFill>
              </a:rPr>
              <a:t>использует все три таблицы, потому что качество и согласованность обоснования архитектурных решений нельзя оценить только по одной характеристике. Для ответа на этот вопрос важно одновременно учитывать три аспекта: во-первых, насколько архитектура действительно покрывает релевантные атрибуты качества; во-вторых, насколько в ней представлены содержательные архитектурные механизмы и категории решений; в-третьих, насколько эти решения объяснены явно, последовательно, структурированно и без внутренних противоречий. Именно поэтому RQ2 объединяет данные из таблицы 1, таблицы 2 и таблицы 3.</a:t>
            </a:r>
            <a:endParaRPr i="1" sz="1100">
              <a:solidFill>
                <a:srgbClr val="6AA84F"/>
              </a:solidFill>
            </a:endParaRPr>
          </a:p>
          <a:p>
            <a:pPr indent="0" lvl="0" marL="0" rtl="0" algn="l">
              <a:spcBef>
                <a:spcPts val="1200"/>
              </a:spcBef>
              <a:spcAft>
                <a:spcPts val="0"/>
              </a:spcAft>
              <a:buNone/>
            </a:pPr>
            <a:r>
              <a:rPr b="1" i="1" lang="ru" sz="1100">
                <a:solidFill>
                  <a:srgbClr val="6AA84F"/>
                </a:solidFill>
              </a:rPr>
              <a:t>RQ3 </a:t>
            </a:r>
            <a:r>
              <a:rPr i="1" lang="ru" sz="1100">
                <a:solidFill>
                  <a:srgbClr val="6AA84F"/>
                </a:solidFill>
              </a:rPr>
              <a:t>использует таблицу 3 и таблицу 2, потому что сопоставимость решений между группами зависит не только от методической дисциплины и приемлемого уровня дополнительных усилий, но и от того, выражены ли решения через общий набор архитектурных категорий. Если работы разных студентов описаны через сопоставимые категории архитектурных решений, их можно сравнивать на единых основаниях. Поэтому для ответа на RQ3 важно учитывать как показатели сопоставимости, дисциплины и отсутствия чрезмерного усложнения из таблицы 3, так и количество представленных архитектурных категорий из таблицы 2.</a:t>
            </a:r>
            <a:endParaRPr i="1" sz="1100">
              <a:solidFill>
                <a:srgbClr val="6AA84F"/>
              </a:solidFill>
            </a:endParaRPr>
          </a:p>
          <a:p>
            <a:pPr indent="0" lvl="0" marL="0" rtl="0" algn="l">
              <a:spcBef>
                <a:spcPts val="1200"/>
              </a:spcBef>
              <a:spcAft>
                <a:spcPts val="0"/>
              </a:spcAft>
              <a:buNone/>
            </a:pPr>
            <a:r>
              <a:t/>
            </a:r>
            <a:endParaRPr i="1" sz="1100">
              <a:solidFill>
                <a:srgbClr val="6AA84F"/>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 Final RQ results</a:t>
            </a:r>
            <a:endParaRPr/>
          </a:p>
        </p:txBody>
      </p:sp>
      <p:sp>
        <p:nvSpPr>
          <p:cNvPr id="213" name="Google Shape;213;p38"/>
          <p:cNvSpPr txBox="1"/>
          <p:nvPr>
            <p:ph idx="1" type="body"/>
          </p:nvPr>
        </p:nvSpPr>
        <p:spPr>
          <a:xfrm>
            <a:off x="311700" y="1152475"/>
            <a:ext cx="8520600" cy="8166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ru" sz="5410">
                <a:solidFill>
                  <a:schemeClr val="dk1"/>
                </a:solidFill>
              </a:rPr>
              <a:t>RQ</a:t>
            </a:r>
            <a:r>
              <a:rPr b="1" lang="ru" sz="5410">
                <a:solidFill>
                  <a:schemeClr val="dk1"/>
                </a:solidFill>
              </a:rPr>
              <a:t>1</a:t>
            </a:r>
            <a:endParaRPr b="1" sz="5410">
              <a:solidFill>
                <a:schemeClr val="dk1"/>
              </a:solidFill>
            </a:endParaRPr>
          </a:p>
          <a:p>
            <a:pPr indent="0" lvl="0" marL="0" rtl="0" algn="l">
              <a:spcBef>
                <a:spcPts val="1200"/>
              </a:spcBef>
              <a:spcAft>
                <a:spcPts val="0"/>
              </a:spcAft>
              <a:buNone/>
            </a:pPr>
            <a:r>
              <a:rPr b="1" lang="ru" sz="5210">
                <a:solidFill>
                  <a:schemeClr val="accent1"/>
                </a:solidFill>
              </a:rPr>
              <a:t>Does ADD+k improve the traceability of architectural decisions compared to basic ADD?</a:t>
            </a:r>
            <a:br>
              <a:rPr b="1" lang="ru" sz="2410">
                <a:solidFill>
                  <a:schemeClr val="dk1"/>
                </a:solidFill>
              </a:rPr>
            </a:br>
            <a:endParaRPr b="1" sz="2410">
              <a:solidFill>
                <a:schemeClr val="dk1"/>
              </a:solidFill>
            </a:endParaRPr>
          </a:p>
          <a:p>
            <a:pPr indent="0" lvl="0" marL="457200" rtl="0" algn="l">
              <a:spcBef>
                <a:spcPts val="1200"/>
              </a:spcBef>
              <a:spcAft>
                <a:spcPts val="0"/>
              </a:spcAft>
              <a:buNone/>
            </a:pPr>
            <a:r>
              <a:t/>
            </a:r>
            <a:endParaRPr sz="4408">
              <a:solidFill>
                <a:schemeClr val="accent1"/>
              </a:solidFill>
            </a:endParaRPr>
          </a:p>
          <a:p>
            <a:pPr indent="0" lvl="0" marL="0" rtl="0" algn="l">
              <a:spcBef>
                <a:spcPts val="1200"/>
              </a:spcBef>
              <a:spcAft>
                <a:spcPts val="1200"/>
              </a:spcAft>
              <a:buNone/>
            </a:pPr>
            <a:r>
              <a:t/>
            </a:r>
            <a:endParaRPr/>
          </a:p>
        </p:txBody>
      </p:sp>
      <p:graphicFrame>
        <p:nvGraphicFramePr>
          <p:cNvPr id="214" name="Google Shape;214;p38"/>
          <p:cNvGraphicFramePr/>
          <p:nvPr/>
        </p:nvGraphicFramePr>
        <p:xfrm>
          <a:off x="311700" y="2103825"/>
          <a:ext cx="3000000" cy="3000000"/>
        </p:xfrm>
        <a:graphic>
          <a:graphicData uri="http://schemas.openxmlformats.org/drawingml/2006/table">
            <a:tbl>
              <a:tblPr>
                <a:noFill/>
                <a:tableStyleId>{EBF06619-F15E-40E2-84F3-F13DFC7912E8}</a:tableStyleId>
              </a:tblPr>
              <a:tblGrid>
                <a:gridCol w="1054025"/>
                <a:gridCol w="382850"/>
                <a:gridCol w="785725"/>
                <a:gridCol w="574925"/>
                <a:gridCol w="1034875"/>
                <a:gridCol w="574925"/>
                <a:gridCol w="632425"/>
              </a:tblGrid>
              <a:tr h="190500">
                <a:tc>
                  <a:txBody>
                    <a:bodyPr/>
                    <a:lstStyle/>
                    <a:p>
                      <a:pPr indent="0" lvl="0" marL="0" rtl="0" algn="ctr">
                        <a:lnSpc>
                          <a:spcPct val="115000"/>
                        </a:lnSpc>
                        <a:spcBef>
                          <a:spcPts val="0"/>
                        </a:spcBef>
                        <a:spcAft>
                          <a:spcPts val="0"/>
                        </a:spcAft>
                        <a:buNone/>
                      </a:pPr>
                      <a:r>
                        <a:rPr b="1" lang="ru" sz="1100"/>
                        <a:t>Method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Mean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SD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Median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Min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Max</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ADD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11.30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3.71</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12.50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4</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15</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ADD+k</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12</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12.25</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3.05</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12.50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6</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15</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graphicFrame>
        <p:nvGraphicFramePr>
          <p:cNvPr id="215" name="Google Shape;215;p38"/>
          <p:cNvGraphicFramePr/>
          <p:nvPr/>
        </p:nvGraphicFramePr>
        <p:xfrm>
          <a:off x="311700" y="3472925"/>
          <a:ext cx="3000000" cy="3000000"/>
        </p:xfrm>
        <a:graphic>
          <a:graphicData uri="http://schemas.openxmlformats.org/drawingml/2006/table">
            <a:tbl>
              <a:tblPr>
                <a:noFill/>
                <a:tableStyleId>{EBF06619-F15E-40E2-84F3-F13DFC7912E8}</a:tableStyleId>
              </a:tblPr>
              <a:tblGrid>
                <a:gridCol w="2548125"/>
                <a:gridCol w="1360450"/>
              </a:tblGrid>
              <a:tr h="190500">
                <a:tc>
                  <a:txBody>
                    <a:bodyPr/>
                    <a:lstStyle/>
                    <a:p>
                      <a:pPr indent="0" lvl="0" marL="0" rtl="0" algn="ctr">
                        <a:lnSpc>
                          <a:spcPct val="115000"/>
                        </a:lnSpc>
                        <a:spcBef>
                          <a:spcPts val="0"/>
                        </a:spcBef>
                        <a:spcAft>
                          <a:spcPts val="0"/>
                        </a:spcAft>
                        <a:buNone/>
                      </a:pPr>
                      <a:r>
                        <a:rPr b="1" lang="ru" sz="1100"/>
                        <a:t>Test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Result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Welch t-test</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p = 0.526</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Mann–Whitney U</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p = 0.590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Cohen’s 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0.28</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216" name="Google Shape;216;p38"/>
          <p:cNvSpPr txBox="1"/>
          <p:nvPr/>
        </p:nvSpPr>
        <p:spPr>
          <a:xfrm>
            <a:off x="5891975" y="1813775"/>
            <a:ext cx="3112500" cy="347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000">
                <a:solidFill>
                  <a:srgbClr val="6AA84F"/>
                </a:solidFill>
              </a:rPr>
              <a:t>Среднее у </a:t>
            </a:r>
            <a:r>
              <a:rPr b="1" lang="ru" sz="1000">
                <a:solidFill>
                  <a:srgbClr val="6AA84F"/>
                </a:solidFill>
              </a:rPr>
              <a:t>ADD+k выше</a:t>
            </a:r>
            <a:r>
              <a:rPr lang="ru" sz="1000">
                <a:solidFill>
                  <a:srgbClr val="6AA84F"/>
                </a:solidFill>
              </a:rPr>
              <a:t>, то есть по направлению эффект есть.</a:t>
            </a:r>
            <a:endParaRPr sz="1000">
              <a:solidFill>
                <a:srgbClr val="6AA84F"/>
              </a:solidFill>
            </a:endParaRPr>
          </a:p>
          <a:p>
            <a:pPr indent="-292100" lvl="0" marL="457200" rtl="0" algn="l">
              <a:lnSpc>
                <a:spcPct val="115000"/>
              </a:lnSpc>
              <a:spcBef>
                <a:spcPts val="1200"/>
              </a:spcBef>
              <a:spcAft>
                <a:spcPts val="0"/>
              </a:spcAft>
              <a:buClr>
                <a:srgbClr val="6AA84F"/>
              </a:buClr>
              <a:buSzPts val="1000"/>
              <a:buChar char="●"/>
            </a:pPr>
            <a:r>
              <a:rPr lang="ru" sz="1000">
                <a:solidFill>
                  <a:srgbClr val="6AA84F"/>
                </a:solidFill>
              </a:rPr>
              <a:t>Но различие </a:t>
            </a:r>
            <a:r>
              <a:rPr b="1" lang="ru" sz="1000">
                <a:solidFill>
                  <a:srgbClr val="6AA84F"/>
                </a:solidFill>
              </a:rPr>
              <a:t>не является статистически значимым</a:t>
            </a:r>
            <a:r>
              <a:rPr lang="ru" sz="1000">
                <a:solidFill>
                  <a:srgbClr val="6AA84F"/>
                </a:solidFill>
              </a:rPr>
              <a:t>.</a:t>
            </a:r>
            <a:endParaRPr sz="1000">
              <a:solidFill>
                <a:srgbClr val="6AA84F"/>
              </a:solidFill>
            </a:endParaRPr>
          </a:p>
          <a:p>
            <a:pPr indent="-292100" lvl="0" marL="457200" rtl="0" algn="l">
              <a:lnSpc>
                <a:spcPct val="115000"/>
              </a:lnSpc>
              <a:spcBef>
                <a:spcPts val="0"/>
              </a:spcBef>
              <a:spcAft>
                <a:spcPts val="0"/>
              </a:spcAft>
              <a:buClr>
                <a:srgbClr val="6AA84F"/>
              </a:buClr>
              <a:buSzPts val="1000"/>
              <a:buChar char="●"/>
            </a:pPr>
            <a:r>
              <a:rPr lang="ru" sz="1000">
                <a:solidFill>
                  <a:srgbClr val="6AA84F"/>
                </a:solidFill>
              </a:rPr>
              <a:t>Размер эффекта </a:t>
            </a:r>
            <a:r>
              <a:rPr b="1" lang="ru" sz="1000">
                <a:solidFill>
                  <a:srgbClr val="6AA84F"/>
                </a:solidFill>
              </a:rPr>
              <a:t>малый</a:t>
            </a:r>
            <a:r>
              <a:rPr lang="ru" sz="1000">
                <a:solidFill>
                  <a:srgbClr val="6AA84F"/>
                </a:solidFill>
              </a:rPr>
              <a:t>.</a:t>
            </a:r>
            <a:endParaRPr b="1" sz="1600">
              <a:solidFill>
                <a:srgbClr val="6AA84F"/>
              </a:solidFill>
            </a:endParaRPr>
          </a:p>
          <a:p>
            <a:pPr indent="-292100" lvl="0" marL="457200" rtl="0" algn="l">
              <a:lnSpc>
                <a:spcPct val="115000"/>
              </a:lnSpc>
              <a:spcBef>
                <a:spcPts val="0"/>
              </a:spcBef>
              <a:spcAft>
                <a:spcPts val="0"/>
              </a:spcAft>
              <a:buClr>
                <a:srgbClr val="6AA84F"/>
              </a:buClr>
              <a:buSzPts val="1000"/>
              <a:buChar char="●"/>
            </a:pPr>
            <a:r>
              <a:rPr lang="ru" sz="1000">
                <a:solidFill>
                  <a:srgbClr val="6AA84F"/>
                </a:solidFill>
              </a:rPr>
              <a:t>В обеих группах </a:t>
            </a:r>
            <a:r>
              <a:rPr b="1" lang="ru" sz="1000">
                <a:solidFill>
                  <a:srgbClr val="6AA84F"/>
                </a:solidFill>
              </a:rPr>
              <a:t>нет IQR-outliers</a:t>
            </a:r>
            <a:r>
              <a:rPr lang="ru" sz="1000">
                <a:solidFill>
                  <a:srgbClr val="6AA84F"/>
                </a:solidFill>
              </a:rPr>
              <a:t>.</a:t>
            </a:r>
            <a:endParaRPr sz="1000">
              <a:solidFill>
                <a:srgbClr val="6AA84F"/>
              </a:solidFill>
            </a:endParaRPr>
          </a:p>
          <a:p>
            <a:pPr indent="-292100" lvl="0" marL="457200" rtl="0" algn="l">
              <a:lnSpc>
                <a:spcPct val="115000"/>
              </a:lnSpc>
              <a:spcBef>
                <a:spcPts val="0"/>
              </a:spcBef>
              <a:spcAft>
                <a:spcPts val="0"/>
              </a:spcAft>
              <a:buClr>
                <a:srgbClr val="6AA84F"/>
              </a:buClr>
              <a:buSzPts val="1000"/>
              <a:buChar char="●"/>
            </a:pPr>
            <a:r>
              <a:rPr lang="ru" sz="1000">
                <a:solidFill>
                  <a:srgbClr val="6AA84F"/>
                </a:solidFill>
              </a:rPr>
              <a:t>Проверка </a:t>
            </a:r>
            <a:r>
              <a:rPr b="1" lang="ru" sz="1000">
                <a:solidFill>
                  <a:srgbClr val="6AA84F"/>
                </a:solidFill>
              </a:rPr>
              <a:t>leave-one-out</a:t>
            </a:r>
            <a:r>
              <a:rPr lang="ru" sz="1000">
                <a:solidFill>
                  <a:srgbClr val="6AA84F"/>
                </a:solidFill>
              </a:rPr>
              <a:t> показывает, что знак разницы </a:t>
            </a:r>
            <a:r>
              <a:rPr b="1" lang="ru" sz="1000">
                <a:solidFill>
                  <a:srgbClr val="6AA84F"/>
                </a:solidFill>
              </a:rPr>
              <a:t>не меняется</a:t>
            </a:r>
            <a:r>
              <a:rPr lang="ru" sz="1000">
                <a:solidFill>
                  <a:srgbClr val="6AA84F"/>
                </a:solidFill>
              </a:rPr>
              <a:t> при исключении любой одной работы.</a:t>
            </a:r>
            <a:endParaRPr sz="1000">
              <a:solidFill>
                <a:srgbClr val="6AA84F"/>
              </a:solidFill>
            </a:endParaRPr>
          </a:p>
          <a:p>
            <a:pPr indent="-292100" lvl="0" marL="457200" rtl="0" algn="l">
              <a:lnSpc>
                <a:spcPct val="115000"/>
              </a:lnSpc>
              <a:spcBef>
                <a:spcPts val="0"/>
              </a:spcBef>
              <a:spcAft>
                <a:spcPts val="0"/>
              </a:spcAft>
              <a:buClr>
                <a:srgbClr val="6AA84F"/>
              </a:buClr>
              <a:buSzPts val="1000"/>
              <a:buChar char="●"/>
            </a:pPr>
            <a:r>
              <a:rPr lang="ru" sz="1000">
                <a:solidFill>
                  <a:srgbClr val="6AA84F"/>
                </a:solidFill>
              </a:rPr>
              <a:t>Диапазон дельты после исключения одной работы: </a:t>
            </a:r>
            <a:r>
              <a:rPr b="1" lang="ru" sz="1000">
                <a:solidFill>
                  <a:srgbClr val="6AA84F"/>
                </a:solidFill>
              </a:rPr>
              <a:t>от +0.14 до +1.52</a:t>
            </a:r>
            <a:r>
              <a:rPr lang="ru" sz="1000">
                <a:solidFill>
                  <a:srgbClr val="6AA84F"/>
                </a:solidFill>
              </a:rPr>
              <a:t>.</a:t>
            </a:r>
            <a:endParaRPr b="1" sz="1600">
              <a:solidFill>
                <a:srgbClr val="6AA84F"/>
              </a:solidFill>
            </a:endParaRPr>
          </a:p>
          <a:p>
            <a:pPr indent="0" lvl="0" marL="0" rtl="0" algn="l">
              <a:lnSpc>
                <a:spcPct val="115000"/>
              </a:lnSpc>
              <a:spcBef>
                <a:spcPts val="1200"/>
              </a:spcBef>
              <a:spcAft>
                <a:spcPts val="1200"/>
              </a:spcAft>
              <a:buNone/>
            </a:pPr>
            <a:r>
              <a:rPr b="1" lang="ru" sz="1000">
                <a:solidFill>
                  <a:srgbClr val="6AA84F"/>
                </a:solidFill>
              </a:rPr>
              <a:t>Предварительно да, ADD+k улучшает прослеживаемость</a:t>
            </a:r>
            <a:r>
              <a:rPr lang="ru" sz="1000">
                <a:solidFill>
                  <a:srgbClr val="6AA84F"/>
                </a:solidFill>
              </a:rPr>
              <a:t>, но это улучшение </a:t>
            </a:r>
            <a:r>
              <a:rPr b="1" lang="ru" sz="1000">
                <a:solidFill>
                  <a:srgbClr val="6AA84F"/>
                </a:solidFill>
              </a:rPr>
              <a:t>пока не подтверждается статистически значимо</a:t>
            </a:r>
            <a:r>
              <a:rPr lang="ru" sz="1000">
                <a:solidFill>
                  <a:srgbClr val="6AA84F"/>
                </a:solidFill>
              </a:rPr>
              <a:t>.</a:t>
            </a:r>
            <a:br>
              <a:rPr lang="ru" sz="1000">
                <a:solidFill>
                  <a:srgbClr val="6AA84F"/>
                </a:solidFill>
              </a:rPr>
            </a:br>
            <a:r>
              <a:rPr lang="ru" sz="1000">
                <a:solidFill>
                  <a:srgbClr val="6AA84F"/>
                </a:solidFill>
              </a:rPr>
              <a:t> При этом результат </a:t>
            </a:r>
            <a:r>
              <a:rPr b="1" lang="ru" sz="1000">
                <a:solidFill>
                  <a:srgbClr val="6AA84F"/>
                </a:solidFill>
              </a:rPr>
              <a:t>устойчив по направлению</a:t>
            </a:r>
            <a:r>
              <a:rPr lang="ru" sz="1000">
                <a:solidFill>
                  <a:srgbClr val="6AA84F"/>
                </a:solidFill>
              </a:rPr>
              <a:t>: он не держится на одном сильном или одном слабом студенте</a:t>
            </a:r>
            <a:endParaRPr sz="1000">
              <a:solidFill>
                <a:srgbClr val="6AA84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 Final RQ results</a:t>
            </a:r>
            <a:endParaRPr/>
          </a:p>
        </p:txBody>
      </p:sp>
      <p:sp>
        <p:nvSpPr>
          <p:cNvPr id="222" name="Google Shape;222;p39"/>
          <p:cNvSpPr txBox="1"/>
          <p:nvPr>
            <p:ph idx="1" type="body"/>
          </p:nvPr>
        </p:nvSpPr>
        <p:spPr>
          <a:xfrm>
            <a:off x="311700" y="1152475"/>
            <a:ext cx="8520600" cy="8166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ru" sz="5410">
                <a:solidFill>
                  <a:schemeClr val="dk1"/>
                </a:solidFill>
              </a:rPr>
              <a:t>RQ2</a:t>
            </a:r>
            <a:endParaRPr b="1" sz="5410">
              <a:solidFill>
                <a:schemeClr val="dk1"/>
              </a:solidFill>
            </a:endParaRPr>
          </a:p>
          <a:p>
            <a:pPr indent="0" lvl="0" marL="0" rtl="0" algn="l">
              <a:spcBef>
                <a:spcPts val="1200"/>
              </a:spcBef>
              <a:spcAft>
                <a:spcPts val="0"/>
              </a:spcAft>
              <a:buNone/>
            </a:pPr>
            <a:r>
              <a:rPr b="1" lang="ru" sz="5210">
                <a:solidFill>
                  <a:schemeClr val="accent1"/>
                </a:solidFill>
              </a:rPr>
              <a:t>Does ADD+k improve the quality and consistency of architectural decision justification compared to basic ADD?</a:t>
            </a:r>
            <a:br>
              <a:rPr b="1" lang="ru" sz="2410">
                <a:solidFill>
                  <a:schemeClr val="dk1"/>
                </a:solidFill>
              </a:rPr>
            </a:br>
            <a:endParaRPr b="1" sz="2410">
              <a:solidFill>
                <a:schemeClr val="dk1"/>
              </a:solidFill>
            </a:endParaRPr>
          </a:p>
          <a:p>
            <a:pPr indent="0" lvl="0" marL="457200" rtl="0" algn="l">
              <a:spcBef>
                <a:spcPts val="1200"/>
              </a:spcBef>
              <a:spcAft>
                <a:spcPts val="0"/>
              </a:spcAft>
              <a:buNone/>
            </a:pPr>
            <a:r>
              <a:t/>
            </a:r>
            <a:endParaRPr sz="4408">
              <a:solidFill>
                <a:schemeClr val="accent1"/>
              </a:solidFill>
            </a:endParaRPr>
          </a:p>
          <a:p>
            <a:pPr indent="0" lvl="0" marL="0" rtl="0" algn="l">
              <a:spcBef>
                <a:spcPts val="1200"/>
              </a:spcBef>
              <a:spcAft>
                <a:spcPts val="1200"/>
              </a:spcAft>
              <a:buNone/>
            </a:pPr>
            <a:r>
              <a:t/>
            </a:r>
            <a:endParaRPr/>
          </a:p>
        </p:txBody>
      </p:sp>
      <p:sp>
        <p:nvSpPr>
          <p:cNvPr id="223" name="Google Shape;223;p39"/>
          <p:cNvSpPr txBox="1"/>
          <p:nvPr/>
        </p:nvSpPr>
        <p:spPr>
          <a:xfrm>
            <a:off x="6031500" y="1865525"/>
            <a:ext cx="3112500" cy="348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100">
                <a:solidFill>
                  <a:srgbClr val="6AA84F"/>
                </a:solidFill>
              </a:rPr>
              <a:t>Явных IQR-outliers нет, но разброс у </a:t>
            </a:r>
            <a:r>
              <a:rPr b="1" lang="ru" sz="1100">
                <a:solidFill>
                  <a:srgbClr val="6AA84F"/>
                </a:solidFill>
              </a:rPr>
              <a:t>ADD+k заметно выше</a:t>
            </a:r>
            <a:r>
              <a:rPr lang="ru" sz="1100">
                <a:solidFill>
                  <a:srgbClr val="6AA84F"/>
                </a:solidFill>
              </a:rPr>
              <a:t>.</a:t>
            </a:r>
            <a:endParaRPr sz="1100">
              <a:solidFill>
                <a:srgbClr val="6AA84F"/>
              </a:solidFill>
            </a:endParaRPr>
          </a:p>
          <a:p>
            <a:pPr indent="0" lvl="0" marL="0" rtl="0" algn="l">
              <a:lnSpc>
                <a:spcPct val="115000"/>
              </a:lnSpc>
              <a:spcBef>
                <a:spcPts val="1200"/>
              </a:spcBef>
              <a:spcAft>
                <a:spcPts val="0"/>
              </a:spcAft>
              <a:buNone/>
            </a:pPr>
            <a:r>
              <a:rPr lang="ru" sz="1100">
                <a:solidFill>
                  <a:srgbClr val="6AA84F"/>
                </a:solidFill>
              </a:rPr>
              <a:t>Проверка </a:t>
            </a:r>
            <a:r>
              <a:rPr b="1" lang="ru" sz="1100">
                <a:solidFill>
                  <a:srgbClr val="6AA84F"/>
                </a:solidFill>
              </a:rPr>
              <a:t>leave-one-out</a:t>
            </a:r>
            <a:r>
              <a:rPr lang="ru" sz="1100">
                <a:solidFill>
                  <a:srgbClr val="6AA84F"/>
                </a:solidFill>
              </a:rPr>
              <a:t> показывает, что знак разницы </a:t>
            </a:r>
            <a:r>
              <a:rPr b="1" lang="ru" sz="1100">
                <a:solidFill>
                  <a:srgbClr val="6AA84F"/>
                </a:solidFill>
              </a:rPr>
              <a:t>меняется</a:t>
            </a:r>
            <a:r>
              <a:rPr lang="ru" sz="1100">
                <a:solidFill>
                  <a:srgbClr val="6AA84F"/>
                </a:solidFill>
              </a:rPr>
              <a:t>:</a:t>
            </a:r>
            <a:endParaRPr sz="1100">
              <a:solidFill>
                <a:srgbClr val="6AA84F"/>
              </a:solidFill>
            </a:endParaRPr>
          </a:p>
          <a:p>
            <a:pPr indent="-298450" lvl="0" marL="457200" rtl="0" algn="l">
              <a:lnSpc>
                <a:spcPct val="115000"/>
              </a:lnSpc>
              <a:spcBef>
                <a:spcPts val="1200"/>
              </a:spcBef>
              <a:spcAft>
                <a:spcPts val="0"/>
              </a:spcAft>
              <a:buClr>
                <a:srgbClr val="6AA84F"/>
              </a:buClr>
              <a:buSzPts val="1100"/>
              <a:buChar char="●"/>
            </a:pPr>
            <a:r>
              <a:rPr lang="ru" sz="1100">
                <a:solidFill>
                  <a:srgbClr val="6AA84F"/>
                </a:solidFill>
              </a:rPr>
              <a:t>после исключения некоторых работ ADD+k выглядит лучше,</a:t>
            </a:r>
            <a:endParaRPr sz="1100">
              <a:solidFill>
                <a:srgbClr val="6AA84F"/>
              </a:solidFill>
            </a:endParaRPr>
          </a:p>
          <a:p>
            <a:pPr indent="-298450" lvl="0" marL="457200" rtl="0" algn="l">
              <a:lnSpc>
                <a:spcPct val="115000"/>
              </a:lnSpc>
              <a:spcBef>
                <a:spcPts val="0"/>
              </a:spcBef>
              <a:spcAft>
                <a:spcPts val="0"/>
              </a:spcAft>
              <a:buClr>
                <a:srgbClr val="6AA84F"/>
              </a:buClr>
              <a:buSzPts val="1100"/>
              <a:buChar char="●"/>
            </a:pPr>
            <a:r>
              <a:rPr lang="ru" sz="1100">
                <a:solidFill>
                  <a:srgbClr val="6AA84F"/>
                </a:solidFill>
              </a:rPr>
              <a:t>после исключения других — хуже.</a:t>
            </a:r>
            <a:endParaRPr sz="1100">
              <a:solidFill>
                <a:srgbClr val="6AA84F"/>
              </a:solidFill>
            </a:endParaRPr>
          </a:p>
          <a:p>
            <a:pPr indent="0" lvl="0" marL="0" rtl="0" algn="l">
              <a:lnSpc>
                <a:spcPct val="115000"/>
              </a:lnSpc>
              <a:spcBef>
                <a:spcPts val="1200"/>
              </a:spcBef>
              <a:spcAft>
                <a:spcPts val="0"/>
              </a:spcAft>
              <a:buNone/>
            </a:pPr>
            <a:r>
              <a:rPr lang="ru" sz="1100">
                <a:solidFill>
                  <a:srgbClr val="6AA84F"/>
                </a:solidFill>
              </a:rPr>
              <a:t>Диапазон дельты: </a:t>
            </a:r>
            <a:r>
              <a:rPr b="1" lang="ru" sz="1100">
                <a:solidFill>
                  <a:srgbClr val="6AA84F"/>
                </a:solidFill>
              </a:rPr>
              <a:t>от −1.79 до +2.39</a:t>
            </a:r>
            <a:r>
              <a:rPr lang="ru" sz="1100">
                <a:solidFill>
                  <a:srgbClr val="6AA84F"/>
                </a:solidFill>
              </a:rPr>
              <a:t>.</a:t>
            </a:r>
            <a:endParaRPr sz="1100">
              <a:solidFill>
                <a:srgbClr val="6AA84F"/>
              </a:solidFill>
            </a:endParaRPr>
          </a:p>
          <a:p>
            <a:pPr indent="0" lvl="0" marL="0" rtl="0" algn="l">
              <a:lnSpc>
                <a:spcPct val="115000"/>
              </a:lnSpc>
              <a:spcBef>
                <a:spcPts val="0"/>
              </a:spcBef>
              <a:spcAft>
                <a:spcPts val="0"/>
              </a:spcAft>
              <a:buNone/>
            </a:pPr>
            <a:r>
              <a:rPr lang="ru" sz="1100">
                <a:solidFill>
                  <a:srgbClr val="6AA84F"/>
                </a:solidFill>
              </a:rPr>
              <a:t>по RQ2 </a:t>
            </a:r>
            <a:r>
              <a:rPr b="1" lang="ru" sz="1100">
                <a:solidFill>
                  <a:srgbClr val="6AA84F"/>
                </a:solidFill>
              </a:rPr>
              <a:t>нет устойчивого эффекта метода</a:t>
            </a:r>
            <a:r>
              <a:rPr lang="ru" sz="1100">
                <a:solidFill>
                  <a:srgbClr val="6AA84F"/>
                </a:solidFill>
              </a:rPr>
              <a:t>;</a:t>
            </a:r>
            <a:endParaRPr sz="1100">
              <a:solidFill>
                <a:srgbClr val="6AA84F"/>
              </a:solidFill>
            </a:endParaRPr>
          </a:p>
          <a:p>
            <a:pPr indent="0" lvl="0" marL="0" rtl="0" algn="l">
              <a:lnSpc>
                <a:spcPct val="115000"/>
              </a:lnSpc>
              <a:spcBef>
                <a:spcPts val="0"/>
              </a:spcBef>
              <a:spcAft>
                <a:spcPts val="0"/>
              </a:spcAft>
              <a:buNone/>
            </a:pPr>
            <a:r>
              <a:rPr lang="ru" sz="1100">
                <a:solidFill>
                  <a:srgbClr val="6AA84F"/>
                </a:solidFill>
              </a:rPr>
              <a:t>вывод чувствителен к составу выборки;</a:t>
            </a:r>
            <a:endParaRPr sz="1100">
              <a:solidFill>
                <a:srgbClr val="6AA84F"/>
              </a:solidFill>
            </a:endParaRPr>
          </a:p>
          <a:p>
            <a:pPr indent="0" lvl="0" marL="0" rtl="0" algn="l">
              <a:lnSpc>
                <a:spcPct val="115000"/>
              </a:lnSpc>
              <a:spcBef>
                <a:spcPts val="0"/>
              </a:spcBef>
              <a:spcAft>
                <a:spcPts val="0"/>
              </a:spcAft>
              <a:buNone/>
            </a:pPr>
            <a:r>
              <a:rPr lang="ru" sz="1100">
                <a:solidFill>
                  <a:srgbClr val="6AA84F"/>
                </a:solidFill>
              </a:rPr>
              <a:t>небольшое преимущество ADD+k по среднему </a:t>
            </a:r>
            <a:r>
              <a:rPr b="1" lang="ru" sz="1100">
                <a:solidFill>
                  <a:srgbClr val="6AA84F"/>
                </a:solidFill>
              </a:rPr>
              <a:t>может быть случайным</a:t>
            </a:r>
            <a:r>
              <a:rPr lang="ru" sz="1100">
                <a:solidFill>
                  <a:srgbClr val="6AA84F"/>
                </a:solidFill>
              </a:rPr>
              <a:t>.</a:t>
            </a:r>
            <a:endParaRPr sz="1100">
              <a:solidFill>
                <a:srgbClr val="6AA84F"/>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t/>
            </a:r>
            <a:endParaRPr sz="1000">
              <a:solidFill>
                <a:srgbClr val="6AA84F"/>
              </a:solidFill>
            </a:endParaRPr>
          </a:p>
        </p:txBody>
      </p:sp>
      <p:graphicFrame>
        <p:nvGraphicFramePr>
          <p:cNvPr id="224" name="Google Shape;224;p39"/>
          <p:cNvGraphicFramePr/>
          <p:nvPr/>
        </p:nvGraphicFramePr>
        <p:xfrm>
          <a:off x="311700" y="2047050"/>
          <a:ext cx="3000000" cy="3000000"/>
        </p:xfrm>
        <a:graphic>
          <a:graphicData uri="http://schemas.openxmlformats.org/drawingml/2006/table">
            <a:tbl>
              <a:tblPr>
                <a:noFill/>
                <a:tableStyleId>{EBF06619-F15E-40E2-84F3-F13DFC7912E8}</a:tableStyleId>
              </a:tblPr>
              <a:tblGrid>
                <a:gridCol w="1158925"/>
                <a:gridCol w="382850"/>
                <a:gridCol w="863925"/>
                <a:gridCol w="800700"/>
                <a:gridCol w="1137850"/>
                <a:gridCol w="632150"/>
                <a:gridCol w="695350"/>
              </a:tblGrid>
              <a:tr h="190500">
                <a:tc>
                  <a:txBody>
                    <a:bodyPr/>
                    <a:lstStyle/>
                    <a:p>
                      <a:pPr indent="0" lvl="0" marL="0" rtl="0" algn="ctr">
                        <a:lnSpc>
                          <a:spcPct val="115000"/>
                        </a:lnSpc>
                        <a:spcBef>
                          <a:spcPts val="0"/>
                        </a:spcBef>
                        <a:spcAft>
                          <a:spcPts val="0"/>
                        </a:spcAft>
                        <a:buNone/>
                      </a:pPr>
                      <a:r>
                        <a:rPr b="1" lang="ru" sz="1100"/>
                        <a:t>Method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Mean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SD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Median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Min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Max</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ADD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34.70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8.79</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32.50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19</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51</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ADD+k</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12</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34.83</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13.97</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35.50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56</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graphicFrame>
        <p:nvGraphicFramePr>
          <p:cNvPr id="225" name="Google Shape;225;p39"/>
          <p:cNvGraphicFramePr/>
          <p:nvPr/>
        </p:nvGraphicFramePr>
        <p:xfrm>
          <a:off x="311700" y="3444725"/>
          <a:ext cx="3000000" cy="3000000"/>
        </p:xfrm>
        <a:graphic>
          <a:graphicData uri="http://schemas.openxmlformats.org/drawingml/2006/table">
            <a:tbl>
              <a:tblPr>
                <a:noFill/>
                <a:tableStyleId>{EBF06619-F15E-40E2-84F3-F13DFC7912E8}</a:tableStyleId>
              </a:tblPr>
              <a:tblGrid>
                <a:gridCol w="2602125"/>
                <a:gridCol w="1389275"/>
              </a:tblGrid>
              <a:tr h="190500">
                <a:tc>
                  <a:txBody>
                    <a:bodyPr/>
                    <a:lstStyle/>
                    <a:p>
                      <a:pPr indent="0" lvl="0" marL="0" rtl="0" algn="ctr">
                        <a:lnSpc>
                          <a:spcPct val="115000"/>
                        </a:lnSpc>
                        <a:spcBef>
                          <a:spcPts val="0"/>
                        </a:spcBef>
                        <a:spcAft>
                          <a:spcPts val="0"/>
                        </a:spcAft>
                        <a:buNone/>
                      </a:pPr>
                      <a:r>
                        <a:rPr b="1" lang="ru" sz="1100"/>
                        <a:t>Test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Result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Welch t-test</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p = 0.979</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Mann–Whitney U</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p = 0.895</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Cohen’s 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0.01</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 Final RQ results</a:t>
            </a:r>
            <a:endParaRPr/>
          </a:p>
        </p:txBody>
      </p:sp>
      <p:sp>
        <p:nvSpPr>
          <p:cNvPr id="231" name="Google Shape;231;p40"/>
          <p:cNvSpPr txBox="1"/>
          <p:nvPr>
            <p:ph idx="1" type="body"/>
          </p:nvPr>
        </p:nvSpPr>
        <p:spPr>
          <a:xfrm>
            <a:off x="311700" y="1152475"/>
            <a:ext cx="8520600" cy="8166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ru" sz="5410">
                <a:solidFill>
                  <a:schemeClr val="dk1"/>
                </a:solidFill>
              </a:rPr>
              <a:t>RQ3</a:t>
            </a:r>
            <a:endParaRPr b="1" sz="5410">
              <a:solidFill>
                <a:schemeClr val="dk1"/>
              </a:solidFill>
            </a:endParaRPr>
          </a:p>
          <a:p>
            <a:pPr indent="0" lvl="0" marL="0" rtl="0" algn="l">
              <a:spcBef>
                <a:spcPts val="1200"/>
              </a:spcBef>
              <a:spcAft>
                <a:spcPts val="0"/>
              </a:spcAft>
              <a:buNone/>
            </a:pPr>
            <a:r>
              <a:rPr b="1" lang="ru" sz="5210">
                <a:solidFill>
                  <a:schemeClr val="accent1"/>
                </a:solidFill>
              </a:rPr>
              <a:t>Does ADD+k improve the comparability of student-produced architectural solutions without imposing excessive analytical overhead?</a:t>
            </a:r>
            <a:br>
              <a:rPr b="1" lang="ru" sz="2410">
                <a:solidFill>
                  <a:schemeClr val="dk1"/>
                </a:solidFill>
              </a:rPr>
            </a:br>
            <a:endParaRPr b="1" sz="2410">
              <a:solidFill>
                <a:schemeClr val="dk1"/>
              </a:solidFill>
            </a:endParaRPr>
          </a:p>
          <a:p>
            <a:pPr indent="0" lvl="0" marL="457200" rtl="0" algn="l">
              <a:spcBef>
                <a:spcPts val="1200"/>
              </a:spcBef>
              <a:spcAft>
                <a:spcPts val="0"/>
              </a:spcAft>
              <a:buNone/>
            </a:pPr>
            <a:r>
              <a:t/>
            </a:r>
            <a:endParaRPr sz="4408">
              <a:solidFill>
                <a:schemeClr val="accent1"/>
              </a:solidFill>
            </a:endParaRPr>
          </a:p>
          <a:p>
            <a:pPr indent="0" lvl="0" marL="0" rtl="0" algn="l">
              <a:spcBef>
                <a:spcPts val="1200"/>
              </a:spcBef>
              <a:spcAft>
                <a:spcPts val="1200"/>
              </a:spcAft>
              <a:buNone/>
            </a:pPr>
            <a:r>
              <a:t/>
            </a:r>
            <a:endParaRPr/>
          </a:p>
        </p:txBody>
      </p:sp>
      <p:sp>
        <p:nvSpPr>
          <p:cNvPr id="232" name="Google Shape;232;p40"/>
          <p:cNvSpPr txBox="1"/>
          <p:nvPr/>
        </p:nvSpPr>
        <p:spPr>
          <a:xfrm>
            <a:off x="6031500" y="1865525"/>
            <a:ext cx="3112500" cy="441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100">
                <a:solidFill>
                  <a:srgbClr val="6AA84F"/>
                </a:solidFill>
              </a:rPr>
              <a:t>различие </a:t>
            </a:r>
            <a:r>
              <a:rPr b="1" lang="ru" sz="1100">
                <a:solidFill>
                  <a:srgbClr val="6AA84F"/>
                </a:solidFill>
              </a:rPr>
              <a:t>не статистически значимо</a:t>
            </a:r>
            <a:r>
              <a:rPr lang="ru" sz="1100">
                <a:solidFill>
                  <a:srgbClr val="6AA84F"/>
                </a:solidFill>
              </a:rPr>
              <a:t>.</a:t>
            </a:r>
            <a:endParaRPr sz="1100">
              <a:solidFill>
                <a:srgbClr val="6AA84F"/>
              </a:solidFill>
            </a:endParaRPr>
          </a:p>
          <a:p>
            <a:pPr indent="0" lvl="0" marL="0" rtl="0" algn="l">
              <a:lnSpc>
                <a:spcPct val="115000"/>
              </a:lnSpc>
              <a:spcBef>
                <a:spcPts val="0"/>
              </a:spcBef>
              <a:spcAft>
                <a:spcPts val="0"/>
              </a:spcAft>
              <a:buClr>
                <a:schemeClr val="dk1"/>
              </a:buClr>
              <a:buSzPts val="1100"/>
              <a:buFont typeface="Arial"/>
              <a:buNone/>
            </a:pPr>
            <a:r>
              <a:rPr lang="ru" sz="1100">
                <a:solidFill>
                  <a:srgbClr val="6AA84F"/>
                </a:solidFill>
              </a:rPr>
              <a:t>Размер эффекта </a:t>
            </a:r>
            <a:r>
              <a:rPr b="1" lang="ru" sz="1100">
                <a:solidFill>
                  <a:srgbClr val="6AA84F"/>
                </a:solidFill>
              </a:rPr>
              <a:t>малый</a:t>
            </a:r>
            <a:r>
              <a:rPr lang="ru" sz="1100">
                <a:solidFill>
                  <a:srgbClr val="6AA84F"/>
                </a:solidFill>
              </a:rPr>
              <a:t>, в сторону ADD.</a:t>
            </a:r>
            <a:br>
              <a:rPr lang="ru" sz="1100">
                <a:solidFill>
                  <a:srgbClr val="6AA84F"/>
                </a:solidFill>
              </a:rPr>
            </a:br>
            <a:r>
              <a:rPr lang="ru" sz="1100">
                <a:solidFill>
                  <a:srgbClr val="6AA84F"/>
                </a:solidFill>
              </a:rPr>
              <a:t>В обеих группах </a:t>
            </a:r>
            <a:r>
              <a:rPr b="1" lang="ru" sz="1100">
                <a:solidFill>
                  <a:srgbClr val="6AA84F"/>
                </a:solidFill>
              </a:rPr>
              <a:t>нет IQR-outliers</a:t>
            </a:r>
            <a:r>
              <a:rPr lang="ru" sz="1100">
                <a:solidFill>
                  <a:srgbClr val="6AA84F"/>
                </a:solidFill>
              </a:rPr>
              <a:t>.</a:t>
            </a:r>
            <a:endParaRPr sz="1100">
              <a:solidFill>
                <a:srgbClr val="6AA84F"/>
              </a:solidFill>
            </a:endParaRPr>
          </a:p>
          <a:p>
            <a:pPr indent="0" lvl="0" marL="0" rtl="0" algn="l">
              <a:lnSpc>
                <a:spcPct val="115000"/>
              </a:lnSpc>
              <a:spcBef>
                <a:spcPts val="0"/>
              </a:spcBef>
              <a:spcAft>
                <a:spcPts val="0"/>
              </a:spcAft>
              <a:buClr>
                <a:schemeClr val="dk1"/>
              </a:buClr>
              <a:buSzPts val="1100"/>
              <a:buFont typeface="Arial"/>
              <a:buNone/>
            </a:pPr>
            <a:r>
              <a:rPr lang="ru" sz="1100">
                <a:solidFill>
                  <a:srgbClr val="6AA84F"/>
                </a:solidFill>
              </a:rPr>
              <a:t>Проверка </a:t>
            </a:r>
            <a:r>
              <a:rPr b="1" lang="ru" sz="1100">
                <a:solidFill>
                  <a:srgbClr val="6AA84F"/>
                </a:solidFill>
              </a:rPr>
              <a:t>leave-one-out</a:t>
            </a:r>
            <a:r>
              <a:rPr lang="ru" sz="1100">
                <a:solidFill>
                  <a:srgbClr val="6AA84F"/>
                </a:solidFill>
              </a:rPr>
              <a:t> показывает, что знак разницы </a:t>
            </a:r>
            <a:r>
              <a:rPr b="1" lang="ru" sz="1100">
                <a:solidFill>
                  <a:srgbClr val="6AA84F"/>
                </a:solidFill>
              </a:rPr>
              <a:t>не меняется</a:t>
            </a:r>
            <a:r>
              <a:rPr lang="ru" sz="1100">
                <a:solidFill>
                  <a:srgbClr val="6AA84F"/>
                </a:solidFill>
              </a:rPr>
              <a:t>:</a:t>
            </a:r>
            <a:endParaRPr sz="1100">
              <a:solidFill>
                <a:srgbClr val="6AA84F"/>
              </a:solidFill>
            </a:endParaRPr>
          </a:p>
          <a:p>
            <a:pPr indent="-298450" lvl="0" marL="457200" rtl="0" algn="l">
              <a:lnSpc>
                <a:spcPct val="115000"/>
              </a:lnSpc>
              <a:spcBef>
                <a:spcPts val="1200"/>
              </a:spcBef>
              <a:spcAft>
                <a:spcPts val="0"/>
              </a:spcAft>
              <a:buClr>
                <a:srgbClr val="6AA84F"/>
              </a:buClr>
              <a:buSzPts val="1100"/>
              <a:buChar char="●"/>
            </a:pPr>
            <a:r>
              <a:rPr lang="ru" sz="1100">
                <a:solidFill>
                  <a:srgbClr val="6AA84F"/>
                </a:solidFill>
              </a:rPr>
              <a:t>во всех вариантах ADD остается не хуже,</a:t>
            </a:r>
            <a:endParaRPr sz="1100">
              <a:solidFill>
                <a:srgbClr val="6AA84F"/>
              </a:solidFill>
            </a:endParaRPr>
          </a:p>
          <a:p>
            <a:pPr indent="-298450" lvl="0" marL="457200" rtl="0" algn="l">
              <a:lnSpc>
                <a:spcPct val="115000"/>
              </a:lnSpc>
              <a:spcBef>
                <a:spcPts val="0"/>
              </a:spcBef>
              <a:spcAft>
                <a:spcPts val="0"/>
              </a:spcAft>
              <a:buClr>
                <a:srgbClr val="6AA84F"/>
              </a:buClr>
              <a:buSzPts val="1100"/>
              <a:buChar char="●"/>
            </a:pPr>
            <a:r>
              <a:rPr lang="ru" sz="1100">
                <a:solidFill>
                  <a:srgbClr val="6AA84F"/>
                </a:solidFill>
              </a:rPr>
              <a:t>а чаще — лучше.</a:t>
            </a:r>
            <a:endParaRPr sz="1100">
              <a:solidFill>
                <a:srgbClr val="6AA84F"/>
              </a:solidFill>
            </a:endParaRPr>
          </a:p>
          <a:p>
            <a:pPr indent="0" lvl="0" marL="0" rtl="0" algn="l">
              <a:lnSpc>
                <a:spcPct val="115000"/>
              </a:lnSpc>
              <a:spcBef>
                <a:spcPts val="1200"/>
              </a:spcBef>
              <a:spcAft>
                <a:spcPts val="0"/>
              </a:spcAft>
              <a:buNone/>
            </a:pPr>
            <a:r>
              <a:rPr lang="ru" sz="1100">
                <a:solidFill>
                  <a:srgbClr val="6AA84F"/>
                </a:solidFill>
              </a:rPr>
              <a:t>Диапазон дельты: </a:t>
            </a:r>
            <a:r>
              <a:rPr b="1" lang="ru" sz="1100">
                <a:solidFill>
                  <a:srgbClr val="6AA84F"/>
                </a:solidFill>
              </a:rPr>
              <a:t>от −1.94 до −0.61</a:t>
            </a:r>
            <a:r>
              <a:rPr lang="ru" sz="1100">
                <a:solidFill>
                  <a:srgbClr val="6AA84F"/>
                </a:solidFill>
              </a:rPr>
              <a:t>.</a:t>
            </a:r>
            <a:endParaRPr sz="1100">
              <a:solidFill>
                <a:srgbClr val="6AA84F"/>
              </a:solidFill>
            </a:endParaRPr>
          </a:p>
          <a:p>
            <a:pPr indent="-298450" lvl="0" marL="457200" rtl="0" algn="l">
              <a:lnSpc>
                <a:spcPct val="115000"/>
              </a:lnSpc>
              <a:spcBef>
                <a:spcPts val="1200"/>
              </a:spcBef>
              <a:spcAft>
                <a:spcPts val="0"/>
              </a:spcAft>
              <a:buClr>
                <a:srgbClr val="6AA84F"/>
              </a:buClr>
              <a:buSzPts val="1100"/>
              <a:buChar char="●"/>
            </a:pPr>
            <a:r>
              <a:rPr lang="ru" sz="1100">
                <a:solidFill>
                  <a:srgbClr val="6AA84F"/>
                </a:solidFill>
              </a:rPr>
              <a:t>ADD+k </a:t>
            </a:r>
            <a:r>
              <a:rPr b="1" lang="ru" sz="1100">
                <a:solidFill>
                  <a:srgbClr val="6AA84F"/>
                </a:solidFill>
              </a:rPr>
              <a:t>не улучшает</a:t>
            </a:r>
            <a:r>
              <a:rPr lang="ru" sz="1100">
                <a:solidFill>
                  <a:srgbClr val="6AA84F"/>
                </a:solidFill>
              </a:rPr>
              <a:t> межгрупповую сопоставимость,</a:t>
            </a:r>
            <a:endParaRPr sz="1100">
              <a:solidFill>
                <a:srgbClr val="6AA84F"/>
              </a:solidFill>
            </a:endParaRPr>
          </a:p>
          <a:p>
            <a:pPr indent="-298450" lvl="0" marL="457200" rtl="0" algn="l">
              <a:lnSpc>
                <a:spcPct val="115000"/>
              </a:lnSpc>
              <a:spcBef>
                <a:spcPts val="0"/>
              </a:spcBef>
              <a:spcAft>
                <a:spcPts val="0"/>
              </a:spcAft>
              <a:buClr>
                <a:srgbClr val="6AA84F"/>
              </a:buClr>
              <a:buSzPts val="1100"/>
              <a:buChar char="●"/>
            </a:pPr>
            <a:r>
              <a:rPr lang="ru" sz="1100">
                <a:solidFill>
                  <a:srgbClr val="6AA84F"/>
                </a:solidFill>
              </a:rPr>
              <a:t>и, напротив, выглядит немного слабее.</a:t>
            </a:r>
            <a:endParaRPr sz="1100">
              <a:solidFill>
                <a:srgbClr val="6AA84F"/>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None/>
            </a:pPr>
            <a:r>
              <a:t/>
            </a:r>
            <a:endParaRPr sz="1100">
              <a:solidFill>
                <a:srgbClr val="6AA84F"/>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t/>
            </a:r>
            <a:endParaRPr sz="1000">
              <a:solidFill>
                <a:srgbClr val="6AA84F"/>
              </a:solidFill>
            </a:endParaRPr>
          </a:p>
        </p:txBody>
      </p:sp>
      <p:graphicFrame>
        <p:nvGraphicFramePr>
          <p:cNvPr id="233" name="Google Shape;233;p40"/>
          <p:cNvGraphicFramePr/>
          <p:nvPr/>
        </p:nvGraphicFramePr>
        <p:xfrm>
          <a:off x="380175" y="2160925"/>
          <a:ext cx="3000000" cy="3000000"/>
        </p:xfrm>
        <a:graphic>
          <a:graphicData uri="http://schemas.openxmlformats.org/drawingml/2006/table">
            <a:tbl>
              <a:tblPr>
                <a:noFill/>
                <a:tableStyleId>{EBF06619-F15E-40E2-84F3-F13DFC7912E8}</a:tableStyleId>
              </a:tblPr>
              <a:tblGrid>
                <a:gridCol w="1008225"/>
                <a:gridCol w="382850"/>
                <a:gridCol w="751575"/>
                <a:gridCol w="549925"/>
                <a:gridCol w="989875"/>
                <a:gridCol w="549925"/>
                <a:gridCol w="604925"/>
              </a:tblGrid>
              <a:tr h="190500">
                <a:tc>
                  <a:txBody>
                    <a:bodyPr/>
                    <a:lstStyle/>
                    <a:p>
                      <a:pPr indent="0" lvl="0" marL="0" rtl="0" algn="ctr">
                        <a:lnSpc>
                          <a:spcPct val="115000"/>
                        </a:lnSpc>
                        <a:spcBef>
                          <a:spcPts val="0"/>
                        </a:spcBef>
                        <a:spcAft>
                          <a:spcPts val="0"/>
                        </a:spcAft>
                        <a:buNone/>
                      </a:pPr>
                      <a:r>
                        <a:rPr b="1" lang="ru" sz="1100"/>
                        <a:t>Method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Mean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SD</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Median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Min</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100"/>
                        <a:t>Max</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ADD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23.50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4.06</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23.50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18</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ADD+k</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12</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22.17</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3.21</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24.00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17</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a:t>25</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graphicFrame>
        <p:nvGraphicFramePr>
          <p:cNvPr id="234" name="Google Shape;234;p40"/>
          <p:cNvGraphicFramePr/>
          <p:nvPr/>
        </p:nvGraphicFramePr>
        <p:xfrm>
          <a:off x="311700" y="3517200"/>
          <a:ext cx="3000000" cy="3000000"/>
        </p:xfrm>
        <a:graphic>
          <a:graphicData uri="http://schemas.openxmlformats.org/drawingml/2006/table">
            <a:tbl>
              <a:tblPr>
                <a:noFill/>
                <a:tableStyleId>{EBF06619-F15E-40E2-84F3-F13DFC7912E8}</a:tableStyleId>
              </a:tblPr>
              <a:tblGrid>
                <a:gridCol w="2966600"/>
                <a:gridCol w="1583875"/>
              </a:tblGrid>
              <a:tr h="190500">
                <a:tc>
                  <a:txBody>
                    <a:bodyPr/>
                    <a:lstStyle/>
                    <a:p>
                      <a:pPr indent="0" lvl="0" marL="0" rtl="0" algn="ctr">
                        <a:lnSpc>
                          <a:spcPct val="115000"/>
                        </a:lnSpc>
                        <a:spcBef>
                          <a:spcPts val="0"/>
                        </a:spcBef>
                        <a:spcAft>
                          <a:spcPts val="0"/>
                        </a:spcAft>
                        <a:buNone/>
                      </a:pPr>
                      <a:r>
                        <a:rPr b="1" lang="ru" sz="1100"/>
                        <a:t>Test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100"/>
                        <a:t>Result</a:t>
                      </a:r>
                      <a:endParaRPr b="1"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Welch t-test</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p = 0.412</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Mann–Whitney U</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p = 0.302</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ru"/>
                        <a:t>Cohen’s d</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ru"/>
                        <a:t>−0.37</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External expert validation using teacher scores</a:t>
            </a:r>
            <a:endParaRPr/>
          </a:p>
        </p:txBody>
      </p:sp>
      <p:sp>
        <p:nvSpPr>
          <p:cNvPr id="240" name="Google Shape;240;p41"/>
          <p:cNvSpPr txBox="1"/>
          <p:nvPr>
            <p:ph idx="1" type="body"/>
          </p:nvPr>
        </p:nvSpPr>
        <p:spPr>
          <a:xfrm>
            <a:off x="364325" y="899325"/>
            <a:ext cx="8832300" cy="3852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ru" sz="1100">
                <a:solidFill>
                  <a:srgbClr val="93C47D"/>
                </a:solidFill>
              </a:rPr>
              <a:t>дополнительная независимая валидация от Эксперта</a:t>
            </a:r>
            <a:endParaRPr i="1" sz="1100">
              <a:solidFill>
                <a:srgbClr val="93C47D"/>
              </a:solidFill>
            </a:endParaRPr>
          </a:p>
          <a:p>
            <a:pPr indent="0" lvl="0" marL="0" rtl="0" algn="l">
              <a:spcBef>
                <a:spcPts val="1200"/>
              </a:spcBef>
              <a:spcAft>
                <a:spcPts val="0"/>
              </a:spcAft>
              <a:buNone/>
            </a:pPr>
            <a:r>
              <a:t/>
            </a:r>
            <a:endParaRPr i="1" sz="1100">
              <a:solidFill>
                <a:srgbClr val="6AA84F"/>
              </a:solidFill>
            </a:endParaRPr>
          </a:p>
          <a:p>
            <a:pPr indent="0" lvl="0" marL="0" rtl="0" algn="l">
              <a:spcBef>
                <a:spcPts val="1200"/>
              </a:spcBef>
              <a:spcAft>
                <a:spcPts val="0"/>
              </a:spcAft>
              <a:buClr>
                <a:schemeClr val="dk1"/>
              </a:buClr>
              <a:buSzPts val="1100"/>
              <a:buFont typeface="Arial"/>
              <a:buNone/>
            </a:pPr>
            <a:r>
              <a:t/>
            </a:r>
            <a:endParaRPr b="1" sz="1200">
              <a:solidFill>
                <a:srgbClr val="1F1F1F"/>
              </a:solidFill>
              <a:highlight>
                <a:srgbClr val="FFFFFF"/>
              </a:highlight>
            </a:endParaRPr>
          </a:p>
          <a:p>
            <a:pPr indent="0" lvl="0" marL="0" rtl="0" algn="l">
              <a:lnSpc>
                <a:spcPct val="105000"/>
              </a:lnSpc>
              <a:spcBef>
                <a:spcPts val="1100"/>
              </a:spcBef>
              <a:spcAft>
                <a:spcPts val="1200"/>
              </a:spcAft>
              <a:buSzPts val="1018"/>
              <a:buNone/>
            </a:pPr>
            <a:r>
              <a:t/>
            </a:r>
            <a:endParaRPr sz="1200">
              <a:solidFill>
                <a:schemeClr val="dk1"/>
              </a:solidFill>
            </a:endParaRPr>
          </a:p>
        </p:txBody>
      </p:sp>
      <p:graphicFrame>
        <p:nvGraphicFramePr>
          <p:cNvPr id="241" name="Google Shape;241;p41"/>
          <p:cNvGraphicFramePr/>
          <p:nvPr/>
        </p:nvGraphicFramePr>
        <p:xfrm>
          <a:off x="214525" y="1268388"/>
          <a:ext cx="3000000" cy="3000000"/>
        </p:xfrm>
        <a:graphic>
          <a:graphicData uri="http://schemas.openxmlformats.org/drawingml/2006/table">
            <a:tbl>
              <a:tblPr>
                <a:noFill/>
                <a:tableStyleId>{EBF06619-F15E-40E2-84F3-F13DFC7912E8}</a:tableStyleId>
              </a:tblPr>
              <a:tblGrid>
                <a:gridCol w="1338900"/>
                <a:gridCol w="6280675"/>
              </a:tblGrid>
              <a:tr h="190500">
                <a:tc>
                  <a:txBody>
                    <a:bodyPr/>
                    <a:lstStyle/>
                    <a:p>
                      <a:pPr indent="0" lvl="0" marL="0" rtl="0" algn="ctr">
                        <a:lnSpc>
                          <a:spcPct val="115000"/>
                        </a:lnSpc>
                        <a:spcBef>
                          <a:spcPts val="0"/>
                        </a:spcBef>
                        <a:spcAft>
                          <a:spcPts val="0"/>
                        </a:spcAft>
                        <a:buNone/>
                      </a:pPr>
                      <a:r>
                        <a:rPr b="1" lang="ru" sz="1100"/>
                        <a:t>Method</a:t>
                      </a:r>
                      <a:endParaRPr b="1" sz="1100"/>
                    </a:p>
                  </a:txBody>
                  <a:tcPr marT="91425" marB="91425" marR="91425" marL="91425"/>
                </a:tc>
                <a:tc>
                  <a:txBody>
                    <a:bodyPr/>
                    <a:lstStyle/>
                    <a:p>
                      <a:pPr indent="0" lvl="0" marL="0" rtl="0" algn="ctr">
                        <a:lnSpc>
                          <a:spcPct val="115000"/>
                        </a:lnSpc>
                        <a:spcBef>
                          <a:spcPts val="0"/>
                        </a:spcBef>
                        <a:spcAft>
                          <a:spcPts val="0"/>
                        </a:spcAft>
                        <a:buNone/>
                      </a:pPr>
                      <a:r>
                        <a:rPr b="1" lang="ru" sz="1100"/>
                        <a:t>Scores</a:t>
                      </a:r>
                      <a:endParaRPr b="1" sz="1100"/>
                    </a:p>
                  </a:txBody>
                  <a:tcPr marT="91425" marB="91425" marR="91425" marL="91425"/>
                </a:tc>
              </a:tr>
              <a:tr h="190500">
                <a:tc>
                  <a:txBody>
                    <a:bodyPr/>
                    <a:lstStyle/>
                    <a:p>
                      <a:pPr indent="0" lvl="0" marL="0" rtl="0" algn="l">
                        <a:spcBef>
                          <a:spcPts val="0"/>
                        </a:spcBef>
                        <a:spcAft>
                          <a:spcPts val="0"/>
                        </a:spcAft>
                        <a:buNone/>
                      </a:pPr>
                      <a:r>
                        <a:rPr lang="ru"/>
                        <a:t>ADD</a:t>
                      </a:r>
                      <a:endParaRPr/>
                    </a:p>
                  </a:txBody>
                  <a:tcPr marT="91425" marB="91425" marR="91425" marL="91425"/>
                </a:tc>
                <a:tc>
                  <a:txBody>
                    <a:bodyPr/>
                    <a:lstStyle/>
                    <a:p>
                      <a:pPr indent="0" lvl="0" marL="0" rtl="0" algn="l">
                        <a:spcBef>
                          <a:spcPts val="0"/>
                        </a:spcBef>
                        <a:spcAft>
                          <a:spcPts val="0"/>
                        </a:spcAft>
                        <a:buNone/>
                      </a:pPr>
                      <a:r>
                        <a:rPr lang="ru"/>
                        <a:t>82, 31, 63, 65, 61, 92, 67, 89, 75, 63, 59</a:t>
                      </a:r>
                      <a:endParaRPr/>
                    </a:p>
                  </a:txBody>
                  <a:tcPr marT="91425" marB="91425" marR="91425" marL="91425"/>
                </a:tc>
              </a:tr>
              <a:tr h="190500">
                <a:tc>
                  <a:txBody>
                    <a:bodyPr/>
                    <a:lstStyle/>
                    <a:p>
                      <a:pPr indent="0" lvl="0" marL="0" rtl="0" algn="l">
                        <a:spcBef>
                          <a:spcPts val="0"/>
                        </a:spcBef>
                        <a:spcAft>
                          <a:spcPts val="0"/>
                        </a:spcAft>
                        <a:buNone/>
                      </a:pPr>
                      <a:r>
                        <a:rPr lang="ru"/>
                        <a:t>ADD+k</a:t>
                      </a:r>
                      <a:endParaRPr/>
                    </a:p>
                  </a:txBody>
                  <a:tcPr marT="91425" marB="91425" marR="91425" marL="91425"/>
                </a:tc>
                <a:tc>
                  <a:txBody>
                    <a:bodyPr/>
                    <a:lstStyle/>
                    <a:p>
                      <a:pPr indent="0" lvl="0" marL="0" rtl="0" algn="l">
                        <a:spcBef>
                          <a:spcPts val="0"/>
                        </a:spcBef>
                        <a:spcAft>
                          <a:spcPts val="0"/>
                        </a:spcAft>
                        <a:buNone/>
                      </a:pPr>
                      <a:r>
                        <a:rPr lang="ru"/>
                        <a:t>0, 94, 98, 85, 47, 44, 85, 0, 82, 84</a:t>
                      </a:r>
                      <a:endParaRPr/>
                    </a:p>
                  </a:txBody>
                  <a:tcPr marT="91425" marB="91425" marR="91425" marL="91425"/>
                </a:tc>
              </a:tr>
            </a:tbl>
          </a:graphicData>
        </a:graphic>
      </p:graphicFrame>
      <p:graphicFrame>
        <p:nvGraphicFramePr>
          <p:cNvPr id="242" name="Google Shape;242;p41"/>
          <p:cNvGraphicFramePr/>
          <p:nvPr/>
        </p:nvGraphicFramePr>
        <p:xfrm>
          <a:off x="214525" y="2426550"/>
          <a:ext cx="3000000" cy="3000000"/>
        </p:xfrm>
        <a:graphic>
          <a:graphicData uri="http://schemas.openxmlformats.org/drawingml/2006/table">
            <a:tbl>
              <a:tblPr>
                <a:noFill/>
                <a:tableStyleId>{EBF06619-F15E-40E2-84F3-F13DFC7912E8}</a:tableStyleId>
              </a:tblPr>
              <a:tblGrid>
                <a:gridCol w="2938850"/>
                <a:gridCol w="2189725"/>
                <a:gridCol w="3169350"/>
              </a:tblGrid>
              <a:tr h="322350">
                <a:tc>
                  <a:txBody>
                    <a:bodyPr/>
                    <a:lstStyle/>
                    <a:p>
                      <a:pPr indent="0" lvl="0" marL="0" rtl="0" algn="ctr">
                        <a:lnSpc>
                          <a:spcPct val="115000"/>
                        </a:lnSpc>
                        <a:spcBef>
                          <a:spcPts val="0"/>
                        </a:spcBef>
                        <a:spcAft>
                          <a:spcPts val="0"/>
                        </a:spcAft>
                        <a:buNone/>
                      </a:pPr>
                      <a:r>
                        <a:rPr b="1" lang="ru" sz="1500"/>
                        <a:t>Metric</a:t>
                      </a:r>
                      <a:endParaRPr b="1" sz="15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500"/>
                        <a:t>ADD</a:t>
                      </a:r>
                      <a:endParaRPr b="1" sz="15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ru" sz="1500"/>
                        <a:t>ADD+k</a:t>
                      </a:r>
                      <a:endParaRPr b="1" sz="15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71700">
                <a:tc>
                  <a:txBody>
                    <a:bodyPr/>
                    <a:lstStyle/>
                    <a:p>
                      <a:pPr indent="0" lvl="0" marL="0" rtl="0" algn="l">
                        <a:spcBef>
                          <a:spcPts val="0"/>
                        </a:spcBef>
                        <a:spcAft>
                          <a:spcPts val="0"/>
                        </a:spcAft>
                        <a:buNone/>
                      </a:pPr>
                      <a:r>
                        <a:rPr lang="ru" sz="1100"/>
                        <a:t>n</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11</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10</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71700">
                <a:tc>
                  <a:txBody>
                    <a:bodyPr/>
                    <a:lstStyle/>
                    <a:p>
                      <a:pPr indent="0" lvl="0" marL="0" rtl="0" algn="l">
                        <a:spcBef>
                          <a:spcPts val="0"/>
                        </a:spcBef>
                        <a:spcAft>
                          <a:spcPts val="0"/>
                        </a:spcAft>
                        <a:buNone/>
                      </a:pPr>
                      <a:r>
                        <a:rPr lang="ru" sz="1100"/>
                        <a:t>Mean</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67.91</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61.90</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71700">
                <a:tc>
                  <a:txBody>
                    <a:bodyPr/>
                    <a:lstStyle/>
                    <a:p>
                      <a:pPr indent="0" lvl="0" marL="0" rtl="0" algn="l">
                        <a:spcBef>
                          <a:spcPts val="0"/>
                        </a:spcBef>
                        <a:spcAft>
                          <a:spcPts val="0"/>
                        </a:spcAft>
                        <a:buNone/>
                      </a:pPr>
                      <a:r>
                        <a:rPr lang="ru" sz="1100"/>
                        <a:t>SD</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16.80</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37.27</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71700">
                <a:tc>
                  <a:txBody>
                    <a:bodyPr/>
                    <a:lstStyle/>
                    <a:p>
                      <a:pPr indent="0" lvl="0" marL="0" rtl="0" algn="l">
                        <a:spcBef>
                          <a:spcPts val="0"/>
                        </a:spcBef>
                        <a:spcAft>
                          <a:spcPts val="0"/>
                        </a:spcAft>
                        <a:buNone/>
                      </a:pPr>
                      <a:r>
                        <a:rPr lang="ru" sz="1100"/>
                        <a:t>Median</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65.00</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83.00</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71700">
                <a:tc>
                  <a:txBody>
                    <a:bodyPr/>
                    <a:lstStyle/>
                    <a:p>
                      <a:pPr indent="0" lvl="0" marL="0" rtl="0" algn="l">
                        <a:spcBef>
                          <a:spcPts val="0"/>
                        </a:spcBef>
                        <a:spcAft>
                          <a:spcPts val="0"/>
                        </a:spcAft>
                        <a:buNone/>
                      </a:pPr>
                      <a:r>
                        <a:rPr lang="ru" sz="1100"/>
                        <a:t>Min</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31</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0</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71700">
                <a:tc>
                  <a:txBody>
                    <a:bodyPr/>
                    <a:lstStyle/>
                    <a:p>
                      <a:pPr indent="0" lvl="0" marL="0" rtl="0" algn="l">
                        <a:spcBef>
                          <a:spcPts val="0"/>
                        </a:spcBef>
                        <a:spcAft>
                          <a:spcPts val="0"/>
                        </a:spcAft>
                        <a:buNone/>
                      </a:pPr>
                      <a:r>
                        <a:rPr lang="ru" sz="1100"/>
                        <a:t>Max</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92</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ru" sz="1100"/>
                        <a:t>98</a:t>
                      </a:r>
                      <a:endParaRPr sz="11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Итоговые преподавательские баллы по группам</a:t>
            </a:r>
            <a:endParaRPr/>
          </a:p>
        </p:txBody>
      </p:sp>
      <p:graphicFrame>
        <p:nvGraphicFramePr>
          <p:cNvPr id="248" name="Google Shape;248;p42"/>
          <p:cNvGraphicFramePr/>
          <p:nvPr/>
        </p:nvGraphicFramePr>
        <p:xfrm>
          <a:off x="311700" y="1156650"/>
          <a:ext cx="3000000" cy="3000000"/>
        </p:xfrm>
        <a:graphic>
          <a:graphicData uri="http://schemas.openxmlformats.org/drawingml/2006/table">
            <a:tbl>
              <a:tblPr>
                <a:noFill/>
                <a:tableStyleId>{EBF06619-F15E-40E2-84F3-F13DFC7912E8}</a:tableStyleId>
              </a:tblPr>
              <a:tblGrid>
                <a:gridCol w="6397200"/>
                <a:gridCol w="1533825"/>
              </a:tblGrid>
              <a:tr h="190500">
                <a:tc>
                  <a:txBody>
                    <a:bodyPr/>
                    <a:lstStyle/>
                    <a:p>
                      <a:pPr indent="0" lvl="0" marL="0" rtl="0" algn="ctr">
                        <a:lnSpc>
                          <a:spcPct val="115000"/>
                        </a:lnSpc>
                        <a:spcBef>
                          <a:spcPts val="0"/>
                        </a:spcBef>
                        <a:spcAft>
                          <a:spcPts val="0"/>
                        </a:spcAft>
                        <a:buNone/>
                      </a:pPr>
                      <a:r>
                        <a:rPr b="1" lang="ru" sz="1100"/>
                        <a:t>Comparison metric</a:t>
                      </a:r>
                      <a:endParaRPr b="1" sz="1100"/>
                    </a:p>
                  </a:txBody>
                  <a:tcPr marT="91425" marB="91425" marR="91425" marL="91425"/>
                </a:tc>
                <a:tc>
                  <a:txBody>
                    <a:bodyPr/>
                    <a:lstStyle/>
                    <a:p>
                      <a:pPr indent="0" lvl="0" marL="0" rtl="0" algn="r">
                        <a:lnSpc>
                          <a:spcPct val="115000"/>
                        </a:lnSpc>
                        <a:spcBef>
                          <a:spcPts val="0"/>
                        </a:spcBef>
                        <a:spcAft>
                          <a:spcPts val="0"/>
                        </a:spcAft>
                        <a:buNone/>
                      </a:pPr>
                      <a:r>
                        <a:rPr b="1" lang="ru" sz="1100"/>
                        <a:t>Value</a:t>
                      </a:r>
                      <a:endParaRPr b="1" sz="1100"/>
                    </a:p>
                  </a:txBody>
                  <a:tcPr marT="91425" marB="91425" marR="91425" marL="91425"/>
                </a:tc>
              </a:tr>
              <a:tr h="190500">
                <a:tc>
                  <a:txBody>
                    <a:bodyPr/>
                    <a:lstStyle/>
                    <a:p>
                      <a:pPr indent="0" lvl="0" marL="0" rtl="0" algn="l">
                        <a:spcBef>
                          <a:spcPts val="0"/>
                        </a:spcBef>
                        <a:spcAft>
                          <a:spcPts val="0"/>
                        </a:spcAft>
                        <a:buNone/>
                      </a:pPr>
                      <a:r>
                        <a:rPr lang="ru"/>
                        <a:t>Δ Mean (ADD+k − ADD)</a:t>
                      </a:r>
                      <a:endParaRPr/>
                    </a:p>
                  </a:txBody>
                  <a:tcPr marT="91425" marB="91425" marR="91425" marL="91425"/>
                </a:tc>
                <a:tc>
                  <a:txBody>
                    <a:bodyPr/>
                    <a:lstStyle/>
                    <a:p>
                      <a:pPr indent="0" lvl="0" marL="0" rtl="0" algn="r">
                        <a:lnSpc>
                          <a:spcPct val="115000"/>
                        </a:lnSpc>
                        <a:spcBef>
                          <a:spcPts val="0"/>
                        </a:spcBef>
                        <a:spcAft>
                          <a:spcPts val="0"/>
                        </a:spcAft>
                        <a:buNone/>
                      </a:pPr>
                      <a:r>
                        <a:rPr lang="ru"/>
                        <a:t>-6.01</a:t>
                      </a:r>
                      <a:endParaRPr/>
                    </a:p>
                  </a:txBody>
                  <a:tcPr marT="91425" marB="91425" marR="91425" marL="91425"/>
                </a:tc>
              </a:tr>
              <a:tr h="190500">
                <a:tc>
                  <a:txBody>
                    <a:bodyPr/>
                    <a:lstStyle/>
                    <a:p>
                      <a:pPr indent="0" lvl="0" marL="0" rtl="0" algn="l">
                        <a:spcBef>
                          <a:spcPts val="0"/>
                        </a:spcBef>
                        <a:spcAft>
                          <a:spcPts val="0"/>
                        </a:spcAft>
                        <a:buNone/>
                      </a:pPr>
                      <a:r>
                        <a:rPr lang="ru"/>
                        <a:t>Welch t-test p-value</a:t>
                      </a:r>
                      <a:endParaRPr/>
                    </a:p>
                  </a:txBody>
                  <a:tcPr marT="91425" marB="91425" marR="91425" marL="91425"/>
                </a:tc>
                <a:tc>
                  <a:txBody>
                    <a:bodyPr/>
                    <a:lstStyle/>
                    <a:p>
                      <a:pPr indent="0" lvl="0" marL="0" rtl="0" algn="r">
                        <a:lnSpc>
                          <a:spcPct val="115000"/>
                        </a:lnSpc>
                        <a:spcBef>
                          <a:spcPts val="0"/>
                        </a:spcBef>
                        <a:spcAft>
                          <a:spcPts val="0"/>
                        </a:spcAft>
                        <a:buNone/>
                      </a:pPr>
                      <a:r>
                        <a:rPr lang="ru"/>
                        <a:t>0.648</a:t>
                      </a:r>
                      <a:endParaRPr/>
                    </a:p>
                  </a:txBody>
                  <a:tcPr marT="91425" marB="91425" marR="91425" marL="91425"/>
                </a:tc>
              </a:tr>
              <a:tr h="190500">
                <a:tc>
                  <a:txBody>
                    <a:bodyPr/>
                    <a:lstStyle/>
                    <a:p>
                      <a:pPr indent="0" lvl="0" marL="0" rtl="0" algn="l">
                        <a:spcBef>
                          <a:spcPts val="0"/>
                        </a:spcBef>
                        <a:spcAft>
                          <a:spcPts val="0"/>
                        </a:spcAft>
                        <a:buNone/>
                      </a:pPr>
                      <a:r>
                        <a:rPr lang="ru"/>
                        <a:t>Mann–Whitney p-value</a:t>
                      </a:r>
                      <a:endParaRPr/>
                    </a:p>
                  </a:txBody>
                  <a:tcPr marT="91425" marB="91425" marR="91425" marL="91425"/>
                </a:tc>
                <a:tc>
                  <a:txBody>
                    <a:bodyPr/>
                    <a:lstStyle/>
                    <a:p>
                      <a:pPr indent="0" lvl="0" marL="0" rtl="0" algn="r">
                        <a:lnSpc>
                          <a:spcPct val="115000"/>
                        </a:lnSpc>
                        <a:spcBef>
                          <a:spcPts val="0"/>
                        </a:spcBef>
                        <a:spcAft>
                          <a:spcPts val="0"/>
                        </a:spcAft>
                        <a:buNone/>
                      </a:pPr>
                      <a:r>
                        <a:rPr lang="ru"/>
                        <a:t>0.778</a:t>
                      </a:r>
                      <a:endParaRPr/>
                    </a:p>
                  </a:txBody>
                  <a:tcPr marT="91425" marB="91425" marR="91425" marL="91425"/>
                </a:tc>
              </a:tr>
              <a:tr h="190500">
                <a:tc>
                  <a:txBody>
                    <a:bodyPr/>
                    <a:lstStyle/>
                    <a:p>
                      <a:pPr indent="0" lvl="0" marL="0" rtl="0" algn="l">
                        <a:spcBef>
                          <a:spcPts val="0"/>
                        </a:spcBef>
                        <a:spcAft>
                          <a:spcPts val="0"/>
                        </a:spcAft>
                        <a:buNone/>
                      </a:pPr>
                      <a:r>
                        <a:rPr lang="ru"/>
                        <a:t>Cohen’s d</a:t>
                      </a:r>
                      <a:endParaRPr/>
                    </a:p>
                  </a:txBody>
                  <a:tcPr marT="91425" marB="91425" marR="91425" marL="91425"/>
                </a:tc>
                <a:tc>
                  <a:txBody>
                    <a:bodyPr/>
                    <a:lstStyle/>
                    <a:p>
                      <a:pPr indent="0" lvl="0" marL="0" rtl="0" algn="r">
                        <a:lnSpc>
                          <a:spcPct val="115000"/>
                        </a:lnSpc>
                        <a:spcBef>
                          <a:spcPts val="0"/>
                        </a:spcBef>
                        <a:spcAft>
                          <a:spcPts val="0"/>
                        </a:spcAft>
                        <a:buNone/>
                      </a:pPr>
                      <a:r>
                        <a:rPr lang="ru"/>
                        <a:t>-0.21</a:t>
                      </a:r>
                      <a:endParaRPr/>
                    </a:p>
                  </a:txBody>
                  <a:tcPr marT="91425" marB="91425" marR="91425" marL="91425"/>
                </a:tc>
              </a:tr>
            </a:tbl>
          </a:graphicData>
        </a:graphic>
      </p:graphicFrame>
      <p:sp>
        <p:nvSpPr>
          <p:cNvPr id="249" name="Google Shape;249;p42"/>
          <p:cNvSpPr txBox="1"/>
          <p:nvPr/>
        </p:nvSpPr>
        <p:spPr>
          <a:xfrm>
            <a:off x="113900" y="3178450"/>
            <a:ext cx="9308700" cy="226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100">
                <a:solidFill>
                  <a:srgbClr val="6AA84F"/>
                </a:solidFill>
              </a:rPr>
              <a:t>У группы </a:t>
            </a:r>
            <a:r>
              <a:rPr b="1" lang="ru" sz="1100">
                <a:solidFill>
                  <a:srgbClr val="6AA84F"/>
                </a:solidFill>
              </a:rPr>
              <a:t>ADD+k очень большой разброс</a:t>
            </a:r>
            <a:r>
              <a:rPr lang="ru" sz="1100">
                <a:solidFill>
                  <a:srgbClr val="6AA84F"/>
                </a:solidFill>
              </a:rPr>
              <a:t>:</a:t>
            </a:r>
            <a:endParaRPr sz="1100">
              <a:solidFill>
                <a:srgbClr val="6AA84F"/>
              </a:solidFill>
            </a:endParaRPr>
          </a:p>
          <a:p>
            <a:pPr indent="-298450" lvl="0" marL="457200" rtl="0" algn="l">
              <a:lnSpc>
                <a:spcPct val="115000"/>
              </a:lnSpc>
              <a:spcBef>
                <a:spcPts val="1200"/>
              </a:spcBef>
              <a:spcAft>
                <a:spcPts val="0"/>
              </a:spcAft>
              <a:buClr>
                <a:srgbClr val="6AA84F"/>
              </a:buClr>
              <a:buSzPts val="1100"/>
              <a:buChar char="●"/>
            </a:pPr>
            <a:r>
              <a:rPr b="1" lang="ru" sz="1100">
                <a:solidFill>
                  <a:srgbClr val="6AA84F"/>
                </a:solidFill>
              </a:rPr>
              <a:t>SD = 37.27</a:t>
            </a:r>
            <a:r>
              <a:rPr lang="ru" sz="1100">
                <a:solidFill>
                  <a:srgbClr val="6AA84F"/>
                </a:solidFill>
              </a:rPr>
              <a:t> против </a:t>
            </a:r>
            <a:r>
              <a:rPr b="1" lang="ru" sz="1100">
                <a:solidFill>
                  <a:srgbClr val="6AA84F"/>
                </a:solidFill>
              </a:rPr>
              <a:t>16.80</a:t>
            </a:r>
            <a:r>
              <a:rPr lang="ru" sz="1100">
                <a:solidFill>
                  <a:srgbClr val="6AA84F"/>
                </a:solidFill>
              </a:rPr>
              <a:t> у ADD</a:t>
            </a:r>
            <a:endParaRPr sz="1100">
              <a:solidFill>
                <a:srgbClr val="6AA84F"/>
              </a:solidFill>
            </a:endParaRPr>
          </a:p>
          <a:p>
            <a:pPr indent="-298450" lvl="0" marL="457200" rtl="0" algn="l">
              <a:lnSpc>
                <a:spcPct val="115000"/>
              </a:lnSpc>
              <a:spcBef>
                <a:spcPts val="0"/>
              </a:spcBef>
              <a:spcAft>
                <a:spcPts val="0"/>
              </a:spcAft>
              <a:buClr>
                <a:srgbClr val="6AA84F"/>
              </a:buClr>
              <a:buSzPts val="1100"/>
              <a:buChar char="●"/>
            </a:pPr>
            <a:r>
              <a:rPr lang="ru" sz="1100">
                <a:solidFill>
                  <a:srgbClr val="6AA84F"/>
                </a:solidFill>
              </a:rPr>
              <a:t>в группе ADD+k есть </a:t>
            </a:r>
            <a:r>
              <a:rPr b="1" lang="ru" sz="1100">
                <a:solidFill>
                  <a:srgbClr val="6AA84F"/>
                </a:solidFill>
              </a:rPr>
              <a:t>две работы с нулём</a:t>
            </a:r>
            <a:endParaRPr b="1" sz="1100">
              <a:solidFill>
                <a:srgbClr val="6AA84F"/>
              </a:solidFill>
            </a:endParaRPr>
          </a:p>
          <a:p>
            <a:pPr indent="-298450" lvl="0" marL="457200" rtl="0" algn="l">
              <a:lnSpc>
                <a:spcPct val="115000"/>
              </a:lnSpc>
              <a:spcBef>
                <a:spcPts val="0"/>
              </a:spcBef>
              <a:spcAft>
                <a:spcPts val="0"/>
              </a:spcAft>
              <a:buClr>
                <a:srgbClr val="6AA84F"/>
              </a:buClr>
              <a:buSzPts val="1100"/>
              <a:buChar char="●"/>
            </a:pPr>
            <a:r>
              <a:rPr lang="ru" sz="1100">
                <a:solidFill>
                  <a:srgbClr val="6AA84F"/>
                </a:solidFill>
              </a:rPr>
              <a:t>при этом медиана у ADD+k даже </a:t>
            </a:r>
            <a:r>
              <a:rPr b="1" lang="ru" sz="1100">
                <a:solidFill>
                  <a:srgbClr val="6AA84F"/>
                </a:solidFill>
              </a:rPr>
              <a:t>выше</a:t>
            </a:r>
            <a:r>
              <a:rPr lang="ru" sz="1100">
                <a:solidFill>
                  <a:srgbClr val="6AA84F"/>
                </a:solidFill>
              </a:rPr>
              <a:t>:</a:t>
            </a:r>
            <a:endParaRPr sz="1100">
              <a:solidFill>
                <a:srgbClr val="6AA84F"/>
              </a:solidFill>
            </a:endParaRPr>
          </a:p>
          <a:p>
            <a:pPr indent="-298450" lvl="1" marL="914400" rtl="0" algn="l">
              <a:lnSpc>
                <a:spcPct val="115000"/>
              </a:lnSpc>
              <a:spcBef>
                <a:spcPts val="0"/>
              </a:spcBef>
              <a:spcAft>
                <a:spcPts val="0"/>
              </a:spcAft>
              <a:buClr>
                <a:srgbClr val="6AA84F"/>
              </a:buClr>
              <a:buSzPts val="1100"/>
              <a:buChar char="○"/>
            </a:pPr>
            <a:r>
              <a:rPr b="1" lang="ru" sz="1100">
                <a:solidFill>
                  <a:srgbClr val="6AA84F"/>
                </a:solidFill>
              </a:rPr>
              <a:t>ADD median = 65</a:t>
            </a:r>
            <a:endParaRPr b="1" sz="1100">
              <a:solidFill>
                <a:srgbClr val="6AA84F"/>
              </a:solidFill>
            </a:endParaRPr>
          </a:p>
          <a:p>
            <a:pPr indent="-298450" lvl="1" marL="914400" rtl="0" algn="l">
              <a:lnSpc>
                <a:spcPct val="115000"/>
              </a:lnSpc>
              <a:spcBef>
                <a:spcPts val="0"/>
              </a:spcBef>
              <a:spcAft>
                <a:spcPts val="0"/>
              </a:spcAft>
              <a:buClr>
                <a:srgbClr val="6AA84F"/>
              </a:buClr>
              <a:buSzPts val="1100"/>
              <a:buChar char="○"/>
            </a:pPr>
            <a:r>
              <a:rPr b="1" lang="ru" sz="1100">
                <a:solidFill>
                  <a:srgbClr val="6AA84F"/>
                </a:solidFill>
              </a:rPr>
              <a:t>ADD+k median = 83</a:t>
            </a:r>
            <a:endParaRPr b="1" sz="1100">
              <a:solidFill>
                <a:srgbClr val="6AA84F"/>
              </a:solidFill>
            </a:endParaRPr>
          </a:p>
          <a:p>
            <a:pPr indent="-298450" lvl="1" marL="914400" rtl="0" algn="l">
              <a:lnSpc>
                <a:spcPct val="115000"/>
              </a:lnSpc>
              <a:spcBef>
                <a:spcPts val="0"/>
              </a:spcBef>
              <a:spcAft>
                <a:spcPts val="0"/>
              </a:spcAft>
              <a:buClr>
                <a:srgbClr val="6AA84F"/>
              </a:buClr>
              <a:buSzPts val="1100"/>
              <a:buChar char="○"/>
            </a:pPr>
            <a:r>
              <a:rPr lang="ru" sz="1100">
                <a:solidFill>
                  <a:srgbClr val="6AA84F"/>
                </a:solidFill>
              </a:rPr>
              <a:t>распределение в группе ADD+k </a:t>
            </a:r>
            <a:r>
              <a:rPr b="1" lang="ru" sz="1100">
                <a:solidFill>
                  <a:srgbClr val="6AA84F"/>
                </a:solidFill>
              </a:rPr>
              <a:t>неровное и поляризованное</a:t>
            </a:r>
            <a:r>
              <a:rPr lang="ru" sz="1100">
                <a:solidFill>
                  <a:srgbClr val="6AA84F"/>
                </a:solidFill>
              </a:rPr>
              <a:t>.</a:t>
            </a:r>
            <a:br>
              <a:rPr lang="ru" sz="1100">
                <a:solidFill>
                  <a:srgbClr val="6AA84F"/>
                </a:solidFill>
              </a:rPr>
            </a:br>
            <a:r>
              <a:rPr lang="ru" sz="1100">
                <a:solidFill>
                  <a:srgbClr val="6AA84F"/>
                </a:solidFill>
              </a:rPr>
              <a:t> То есть там одновременно есть:</a:t>
            </a:r>
            <a:endParaRPr sz="1100">
              <a:solidFill>
                <a:srgbClr val="6AA84F"/>
              </a:solidFill>
            </a:endParaRPr>
          </a:p>
          <a:p>
            <a:pPr indent="-298450" lvl="0" marL="457200" rtl="0" algn="l">
              <a:lnSpc>
                <a:spcPct val="115000"/>
              </a:lnSpc>
              <a:spcBef>
                <a:spcPts val="0"/>
              </a:spcBef>
              <a:spcAft>
                <a:spcPts val="0"/>
              </a:spcAft>
              <a:buClr>
                <a:srgbClr val="6AA84F"/>
              </a:buClr>
              <a:buSzPts val="1100"/>
              <a:buChar char="●"/>
            </a:pPr>
            <a:r>
              <a:rPr lang="ru" sz="1100">
                <a:solidFill>
                  <a:srgbClr val="6AA84F"/>
                </a:solidFill>
              </a:rPr>
              <a:t>очень сильные работы</a:t>
            </a:r>
            <a:endParaRPr sz="1100">
              <a:solidFill>
                <a:srgbClr val="6AA84F"/>
              </a:solidFill>
            </a:endParaRPr>
          </a:p>
          <a:p>
            <a:pPr indent="-298450" lvl="0" marL="457200" rtl="0" algn="l">
              <a:lnSpc>
                <a:spcPct val="115000"/>
              </a:lnSpc>
              <a:spcBef>
                <a:spcPts val="0"/>
              </a:spcBef>
              <a:spcAft>
                <a:spcPts val="0"/>
              </a:spcAft>
              <a:buClr>
                <a:srgbClr val="6AA84F"/>
              </a:buClr>
              <a:buSzPts val="1100"/>
              <a:buChar char="●"/>
            </a:pPr>
            <a:r>
              <a:rPr lang="ru" sz="1100">
                <a:solidFill>
                  <a:srgbClr val="6AA84F"/>
                </a:solidFill>
              </a:rPr>
              <a:t>и очень слабые / провальные работы</a:t>
            </a:r>
            <a:endParaRPr sz="1100">
              <a:solidFill>
                <a:srgbClr val="6AA84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Итоговые преподавательские баллы по группам</a:t>
            </a:r>
            <a:endParaRPr/>
          </a:p>
        </p:txBody>
      </p:sp>
      <p:sp>
        <p:nvSpPr>
          <p:cNvPr id="255" name="Google Shape;255;p43"/>
          <p:cNvSpPr txBox="1"/>
          <p:nvPr/>
        </p:nvSpPr>
        <p:spPr>
          <a:xfrm>
            <a:off x="-227750" y="1107775"/>
            <a:ext cx="9308700" cy="3221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lang="ru" sz="1100">
                <a:solidFill>
                  <a:srgbClr val="6AA84F"/>
                </a:solidFill>
              </a:rPr>
              <a:t>В качестве дополнительной внешней проверки результатов были рассмотрены итоговые преподавательские оценки обезличенных студенческих работ. Для группы ADD средний балл составил 67.91 при стандартном отклонении 16.80, тогда как для группы ADD+k средний балл составил 61.90 при стандартном отклонении 37.27. Разница средних составила -6.01 балла в пользу ADD, однако статистически значимой она не является (Welch t-test: p = 0.648; Mann–Whitney: p = 0.778). </a:t>
            </a:r>
            <a:endParaRPr sz="1100">
              <a:solidFill>
                <a:srgbClr val="6AA84F"/>
              </a:solidFill>
            </a:endParaRPr>
          </a:p>
          <a:p>
            <a:pPr indent="0" lvl="0" marL="457200" rtl="0" algn="l">
              <a:lnSpc>
                <a:spcPct val="115000"/>
              </a:lnSpc>
              <a:spcBef>
                <a:spcPts val="1200"/>
              </a:spcBef>
              <a:spcAft>
                <a:spcPts val="0"/>
              </a:spcAft>
              <a:buNone/>
            </a:pPr>
            <a:r>
              <a:t/>
            </a:r>
            <a:endParaRPr sz="1100">
              <a:solidFill>
                <a:srgbClr val="6AA84F"/>
              </a:solidFill>
            </a:endParaRPr>
          </a:p>
          <a:p>
            <a:pPr indent="0" lvl="0" marL="457200" rtl="0" algn="l">
              <a:lnSpc>
                <a:spcPct val="115000"/>
              </a:lnSpc>
              <a:spcBef>
                <a:spcPts val="1200"/>
              </a:spcBef>
              <a:spcAft>
                <a:spcPts val="0"/>
              </a:spcAft>
              <a:buNone/>
            </a:pPr>
            <a:r>
              <a:rPr lang="ru" sz="1100">
                <a:solidFill>
                  <a:srgbClr val="6AA84F"/>
                </a:solidFill>
              </a:rPr>
              <a:t>Размер эффекта также оказался малым (Cohen’s d = -0.21). При этом группа ADD+k показала существенно более высокий разброс результатов, что указывает на меньшую устойчивость эффекта внутри группы. </a:t>
            </a:r>
            <a:endParaRPr sz="1100">
              <a:solidFill>
                <a:srgbClr val="6AA84F"/>
              </a:solidFill>
            </a:endParaRPr>
          </a:p>
          <a:p>
            <a:pPr indent="0" lvl="0" marL="457200" rtl="0" algn="l">
              <a:lnSpc>
                <a:spcPct val="115000"/>
              </a:lnSpc>
              <a:spcBef>
                <a:spcPts val="1200"/>
              </a:spcBef>
              <a:spcAft>
                <a:spcPts val="0"/>
              </a:spcAft>
              <a:buNone/>
            </a:pPr>
            <a:r>
              <a:t/>
            </a:r>
            <a:endParaRPr sz="1100">
              <a:solidFill>
                <a:srgbClr val="6AA84F"/>
              </a:solidFill>
            </a:endParaRPr>
          </a:p>
          <a:p>
            <a:pPr indent="0" lvl="0" marL="457200" rtl="0" algn="l">
              <a:lnSpc>
                <a:spcPct val="115000"/>
              </a:lnSpc>
              <a:spcBef>
                <a:spcPts val="1200"/>
              </a:spcBef>
              <a:spcAft>
                <a:spcPts val="1200"/>
              </a:spcAft>
              <a:buNone/>
            </a:pPr>
            <a:r>
              <a:rPr b="1" lang="ru" sz="1700">
                <a:solidFill>
                  <a:srgbClr val="6AA84F"/>
                </a:solidFill>
              </a:rPr>
              <a:t>Таким образом, преподавательские оценки не подтверждают наличие устойчивого преимущества ADD+k по общему качеству работ, но указывают на более поляризованное распределение результатов в этой группе.</a:t>
            </a:r>
            <a:endParaRPr b="1" sz="1700">
              <a:solidFill>
                <a:srgbClr val="6AA84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graphicFrame>
        <p:nvGraphicFramePr>
          <p:cNvPr id="260" name="Google Shape;260;p44"/>
          <p:cNvGraphicFramePr/>
          <p:nvPr/>
        </p:nvGraphicFramePr>
        <p:xfrm>
          <a:off x="359025" y="402800"/>
          <a:ext cx="3000000" cy="3000000"/>
        </p:xfrm>
        <a:graphic>
          <a:graphicData uri="http://schemas.openxmlformats.org/drawingml/2006/table">
            <a:tbl>
              <a:tblPr>
                <a:noFill/>
                <a:tableStyleId>{D82FC7FA-D89C-4C1D-A151-8E32F19231D6}</a:tableStyleId>
              </a:tblPr>
              <a:tblGrid>
                <a:gridCol w="4269150"/>
                <a:gridCol w="1016000"/>
                <a:gridCol w="3499825"/>
              </a:tblGrid>
              <a:tr h="381000">
                <a:tc>
                  <a:txBody>
                    <a:bodyPr/>
                    <a:lstStyle/>
                    <a:p>
                      <a:pPr indent="0" lvl="0" marL="0" rtl="0" algn="l">
                        <a:spcBef>
                          <a:spcPts val="0"/>
                        </a:spcBef>
                        <a:spcAft>
                          <a:spcPts val="0"/>
                        </a:spcAft>
                        <a:buNone/>
                      </a:pPr>
                      <a:r>
                        <a:rPr lang="ru" sz="1100"/>
                        <a:t>Наблюдение</a:t>
                      </a:r>
                      <a:endParaRPr sz="1100"/>
                    </a:p>
                  </a:txBody>
                  <a:tcPr marT="91425" marB="91425" marR="91425" marL="91425">
                    <a:solidFill>
                      <a:schemeClr val="lt2"/>
                    </a:solidFill>
                  </a:tcPr>
                </a:tc>
                <a:tc>
                  <a:txBody>
                    <a:bodyPr/>
                    <a:lstStyle/>
                    <a:p>
                      <a:pPr indent="0" lvl="0" marL="0" rtl="0" algn="l">
                        <a:spcBef>
                          <a:spcPts val="0"/>
                        </a:spcBef>
                        <a:spcAft>
                          <a:spcPts val="0"/>
                        </a:spcAft>
                        <a:buNone/>
                      </a:pPr>
                      <a:r>
                        <a:rPr lang="ru" sz="1100"/>
                        <a:t>Сколько студентов</a:t>
                      </a:r>
                      <a:endParaRPr sz="1100"/>
                    </a:p>
                  </a:txBody>
                  <a:tcPr marT="91425" marB="91425" marR="91425" marL="91425">
                    <a:solidFill>
                      <a:schemeClr val="lt2"/>
                    </a:solidFill>
                  </a:tcPr>
                </a:tc>
                <a:tc>
                  <a:txBody>
                    <a:bodyPr/>
                    <a:lstStyle/>
                    <a:p>
                      <a:pPr indent="0" lvl="0" marL="0" rtl="0" algn="l">
                        <a:spcBef>
                          <a:spcPts val="0"/>
                        </a:spcBef>
                        <a:spcAft>
                          <a:spcPts val="0"/>
                        </a:spcAft>
                        <a:buNone/>
                      </a:pPr>
                      <a:r>
                        <a:rPr lang="ru" sz="1100"/>
                        <a:t>Влияние на разброс</a:t>
                      </a:r>
                      <a:endParaRPr sz="1100"/>
                    </a:p>
                  </a:txBody>
                  <a:tcPr marT="91425" marB="91425" marR="91425" marL="91425">
                    <a:solidFill>
                      <a:schemeClr val="lt2"/>
                    </a:solidFill>
                  </a:tcPr>
                </a:tc>
              </a:tr>
              <a:tr h="381000">
                <a:tc>
                  <a:txBody>
                    <a:bodyPr/>
                    <a:lstStyle/>
                    <a:p>
                      <a:pPr indent="0" lvl="0" marL="0" rtl="0" algn="l">
                        <a:spcBef>
                          <a:spcPts val="0"/>
                        </a:spcBef>
                        <a:spcAft>
                          <a:spcPts val="0"/>
                        </a:spcAft>
                        <a:buNone/>
                      </a:pPr>
                      <a:r>
                        <a:rPr lang="ru" sz="1000"/>
                        <a:t>Матрица вела к следующему архитектурному решению</a:t>
                      </a:r>
                      <a:endParaRPr sz="1000"/>
                    </a:p>
                  </a:txBody>
                  <a:tcPr marT="91425" marB="91425" marR="91425" marL="91425"/>
                </a:tc>
                <a:tc>
                  <a:txBody>
                    <a:bodyPr/>
                    <a:lstStyle/>
                    <a:p>
                      <a:pPr indent="0" lvl="0" marL="0" rtl="0" algn="l">
                        <a:spcBef>
                          <a:spcPts val="0"/>
                        </a:spcBef>
                        <a:spcAft>
                          <a:spcPts val="0"/>
                        </a:spcAft>
                        <a:buNone/>
                      </a:pPr>
                      <a:r>
                        <a:rPr lang="ru"/>
                        <a:t>7 из 12</a:t>
                      </a:r>
                      <a:endParaRPr/>
                    </a:p>
                  </a:txBody>
                  <a:tcPr marT="91425" marB="91425" marR="91425" marL="91425"/>
                </a:tc>
                <a:tc>
                  <a:txBody>
                    <a:bodyPr/>
                    <a:lstStyle/>
                    <a:p>
                      <a:pPr indent="0" lvl="0" marL="0" rtl="0" algn="l">
                        <a:spcBef>
                          <a:spcPts val="0"/>
                        </a:spcBef>
                        <a:spcAft>
                          <a:spcPts val="0"/>
                        </a:spcAft>
                        <a:buNone/>
                      </a:pPr>
                      <a:r>
                        <a:rPr lang="ru" sz="900"/>
                        <a:t>У части студентов ADD+k действительно усилил прослеживаемость решений</a:t>
                      </a:r>
                      <a:endParaRPr sz="900"/>
                    </a:p>
                  </a:txBody>
                  <a:tcPr marT="91425" marB="91425" marR="91425" marL="91425"/>
                </a:tc>
              </a:tr>
              <a:tr h="381000">
                <a:tc>
                  <a:txBody>
                    <a:bodyPr/>
                    <a:lstStyle/>
                    <a:p>
                      <a:pPr indent="0" lvl="0" marL="0" rtl="0" algn="l">
                        <a:spcBef>
                          <a:spcPts val="0"/>
                        </a:spcBef>
                        <a:spcAft>
                          <a:spcPts val="0"/>
                        </a:spcAft>
                        <a:buNone/>
                      </a:pPr>
                      <a:r>
                        <a:rPr lang="ru" sz="1000"/>
                        <a:t>Матрица использовалась с методическими проблемами: неверный baseline, спорный индекс, несоответствие матрицы и схемы, слишком оптимистичная оценка</a:t>
                      </a:r>
                      <a:endParaRPr sz="1000"/>
                    </a:p>
                  </a:txBody>
                  <a:tcPr marT="91425" marB="91425" marR="91425" marL="91425"/>
                </a:tc>
                <a:tc>
                  <a:txBody>
                    <a:bodyPr/>
                    <a:lstStyle/>
                    <a:p>
                      <a:pPr indent="0" lvl="0" marL="0" rtl="0" algn="l">
                        <a:spcBef>
                          <a:spcPts val="0"/>
                        </a:spcBef>
                        <a:spcAft>
                          <a:spcPts val="0"/>
                        </a:spcAft>
                        <a:buNone/>
                      </a:pPr>
                      <a:r>
                        <a:rPr lang="ru"/>
                        <a:t>6 из 12</a:t>
                      </a:r>
                      <a:endParaRPr/>
                    </a:p>
                  </a:txBody>
                  <a:tcPr marT="91425" marB="91425" marR="91425" marL="91425"/>
                </a:tc>
                <a:tc>
                  <a:txBody>
                    <a:bodyPr/>
                    <a:lstStyle/>
                    <a:p>
                      <a:pPr indent="0" lvl="0" marL="0" rtl="0" algn="l">
                        <a:spcBef>
                          <a:spcPts val="0"/>
                        </a:spcBef>
                        <a:spcAft>
                          <a:spcPts val="0"/>
                        </a:spcAft>
                        <a:buNone/>
                      </a:pPr>
                      <a:r>
                        <a:rPr lang="ru" sz="900"/>
                        <a:t>Индекс начинал зависеть не только от качества архитектуры, но и от того, насколько правильно студент понял механику ADD+k</a:t>
                      </a:r>
                      <a:endParaRPr sz="900"/>
                    </a:p>
                  </a:txBody>
                  <a:tcPr marT="91425" marB="91425" marR="91425" marL="91425"/>
                </a:tc>
              </a:tr>
              <a:tr h="381000">
                <a:tc>
                  <a:txBody>
                    <a:bodyPr/>
                    <a:lstStyle/>
                    <a:p>
                      <a:pPr indent="0" lvl="0" marL="0" rtl="0" algn="l">
                        <a:spcBef>
                          <a:spcPts val="0"/>
                        </a:spcBef>
                        <a:spcAft>
                          <a:spcPts val="0"/>
                        </a:spcAft>
                        <a:buNone/>
                      </a:pPr>
                      <a:r>
                        <a:rPr lang="ru" sz="1000"/>
                        <a:t>Во второй итерации фокус смещался от эталонной задачи «детализировать основную функциональность» к локальному усилению отдельного риска</a:t>
                      </a:r>
                      <a:endParaRPr sz="1000"/>
                    </a:p>
                  </a:txBody>
                  <a:tcPr marT="91425" marB="91425" marR="91425" marL="91425"/>
                </a:tc>
                <a:tc>
                  <a:txBody>
                    <a:bodyPr/>
                    <a:lstStyle/>
                    <a:p>
                      <a:pPr indent="0" lvl="0" marL="0" rtl="0" algn="l">
                        <a:spcBef>
                          <a:spcPts val="0"/>
                        </a:spcBef>
                        <a:spcAft>
                          <a:spcPts val="0"/>
                        </a:spcAft>
                        <a:buNone/>
                      </a:pPr>
                      <a:r>
                        <a:rPr lang="ru"/>
                        <a:t>11 из 12</a:t>
                      </a:r>
                      <a:endParaRPr/>
                    </a:p>
                  </a:txBody>
                  <a:tcPr marT="91425" marB="91425" marR="91425" marL="91425"/>
                </a:tc>
                <a:tc>
                  <a:txBody>
                    <a:bodyPr/>
                    <a:lstStyle/>
                    <a:p>
                      <a:pPr indent="0" lvl="0" marL="0" rtl="0" algn="l">
                        <a:spcBef>
                          <a:spcPts val="0"/>
                        </a:spcBef>
                        <a:spcAft>
                          <a:spcPts val="0"/>
                        </a:spcAft>
                        <a:buNone/>
                      </a:pPr>
                      <a:r>
                        <a:rPr lang="ru" sz="900"/>
                        <a:t>Студенты начали развивать архитектуру по разным траекториям, поэтому результаты стали менее сопоставимыми</a:t>
                      </a:r>
                      <a:endParaRPr sz="900"/>
                    </a:p>
                  </a:txBody>
                  <a:tcPr marT="91425" marB="91425" marR="91425" marL="91425"/>
                </a:tc>
              </a:tr>
              <a:tr h="381000">
                <a:tc>
                  <a:txBody>
                    <a:bodyPr/>
                    <a:lstStyle/>
                    <a:p>
                      <a:pPr indent="0" lvl="0" marL="0" rtl="0" algn="l">
                        <a:spcBef>
                          <a:spcPts val="0"/>
                        </a:spcBef>
                        <a:spcAft>
                          <a:spcPts val="0"/>
                        </a:spcAft>
                        <a:buNone/>
                      </a:pPr>
                      <a:r>
                        <a:rPr lang="ru" sz="1000"/>
                        <a:t>Во второй итерации основной фокус был на reliability / resilience</a:t>
                      </a:r>
                      <a:endParaRPr sz="1000"/>
                    </a:p>
                  </a:txBody>
                  <a:tcPr marT="91425" marB="91425" marR="91425" marL="91425"/>
                </a:tc>
                <a:tc>
                  <a:txBody>
                    <a:bodyPr/>
                    <a:lstStyle/>
                    <a:p>
                      <a:pPr indent="0" lvl="0" marL="0" rtl="0" algn="l">
                        <a:spcBef>
                          <a:spcPts val="0"/>
                        </a:spcBef>
                        <a:spcAft>
                          <a:spcPts val="0"/>
                        </a:spcAft>
                        <a:buNone/>
                      </a:pPr>
                      <a:r>
                        <a:rPr lang="ru"/>
                        <a:t>7 из 12</a:t>
                      </a:r>
                      <a:endParaRPr/>
                    </a:p>
                  </a:txBody>
                  <a:tcPr marT="91425" marB="91425" marR="91425" marL="91425"/>
                </a:tc>
                <a:tc>
                  <a:txBody>
                    <a:bodyPr/>
                    <a:lstStyle/>
                    <a:p>
                      <a:pPr indent="0" lvl="0" marL="0" rtl="0" algn="l">
                        <a:spcBef>
                          <a:spcPts val="0"/>
                        </a:spcBef>
                        <a:spcAft>
                          <a:spcPts val="0"/>
                        </a:spcAft>
                        <a:buNone/>
                      </a:pPr>
                      <a:r>
                        <a:rPr lang="ru" sz="900"/>
                        <a:t>Большая часть ADD+k-группы раньше эталона ушла в отказоустойчивость, outbox, broker, retry, DLQ, circuit breaker</a:t>
                      </a:r>
                      <a:endParaRPr sz="900"/>
                    </a:p>
                  </a:txBody>
                  <a:tcPr marT="91425" marB="91425" marR="91425" marL="91425"/>
                </a:tc>
              </a:tr>
              <a:tr h="381000">
                <a:tc>
                  <a:txBody>
                    <a:bodyPr/>
                    <a:lstStyle/>
                    <a:p>
                      <a:pPr indent="0" lvl="0" marL="0" rtl="0" algn="l">
                        <a:spcBef>
                          <a:spcPts val="0"/>
                        </a:spcBef>
                        <a:spcAft>
                          <a:spcPts val="0"/>
                        </a:spcAft>
                        <a:buNone/>
                      </a:pPr>
                      <a:r>
                        <a:rPr lang="ru" sz="1000"/>
                        <a:t>Во второй итерации основной фокус был на query / performance / cache</a:t>
                      </a:r>
                      <a:endParaRPr sz="1000"/>
                    </a:p>
                  </a:txBody>
                  <a:tcPr marT="91425" marB="91425" marR="91425" marL="91425"/>
                </a:tc>
                <a:tc>
                  <a:txBody>
                    <a:bodyPr/>
                    <a:lstStyle/>
                    <a:p>
                      <a:pPr indent="0" lvl="0" marL="0" rtl="0" algn="l">
                        <a:spcBef>
                          <a:spcPts val="0"/>
                        </a:spcBef>
                        <a:spcAft>
                          <a:spcPts val="0"/>
                        </a:spcAft>
                        <a:buNone/>
                      </a:pPr>
                      <a:r>
                        <a:rPr lang="ru"/>
                        <a:t>3 из 12</a:t>
                      </a:r>
                      <a:endParaRPr/>
                    </a:p>
                  </a:txBody>
                  <a:tcPr marT="91425" marB="91425" marR="91425" marL="91425"/>
                </a:tc>
                <a:tc>
                  <a:txBody>
                    <a:bodyPr/>
                    <a:lstStyle/>
                    <a:p>
                      <a:pPr indent="0" lvl="0" marL="0" rtl="0" algn="l">
                        <a:spcBef>
                          <a:spcPts val="0"/>
                        </a:spcBef>
                        <a:spcAft>
                          <a:spcPts val="0"/>
                        </a:spcAft>
                        <a:buNone/>
                      </a:pPr>
                      <a:r>
                        <a:rPr lang="ru" sz="900"/>
                        <a:t>Другая часть группы измеряла уже не надежность доставки, а ускорение чтения и снижение нагрузки</a:t>
                      </a:r>
                      <a:endParaRPr sz="900"/>
                    </a:p>
                  </a:txBody>
                  <a:tcPr marT="91425" marB="91425" marR="91425" marL="91425"/>
                </a:tc>
              </a:tr>
              <a:tr h="381000">
                <a:tc>
                  <a:txBody>
                    <a:bodyPr/>
                    <a:lstStyle/>
                    <a:p>
                      <a:pPr indent="0" lvl="0" marL="0" rtl="0" algn="l">
                        <a:spcBef>
                          <a:spcPts val="0"/>
                        </a:spcBef>
                        <a:spcAft>
                          <a:spcPts val="0"/>
                        </a:spcAft>
                        <a:buNone/>
                      </a:pPr>
                      <a:r>
                        <a:rPr lang="ru" sz="1000"/>
                        <a:t>Один студент в третьей итерации ушёл в security / audit вместо reliability / availability / scalability</a:t>
                      </a:r>
                      <a:endParaRPr sz="1000"/>
                    </a:p>
                  </a:txBody>
                  <a:tcPr marT="91425" marB="91425" marR="91425" marL="91425"/>
                </a:tc>
                <a:tc>
                  <a:txBody>
                    <a:bodyPr/>
                    <a:lstStyle/>
                    <a:p>
                      <a:pPr indent="0" lvl="0" marL="0" rtl="0" algn="l">
                        <a:spcBef>
                          <a:spcPts val="0"/>
                        </a:spcBef>
                        <a:spcAft>
                          <a:spcPts val="0"/>
                        </a:spcAft>
                        <a:buNone/>
                      </a:pPr>
                      <a:r>
                        <a:rPr lang="ru"/>
                        <a:t>1 из 12</a:t>
                      </a:r>
                      <a:endParaRPr/>
                    </a:p>
                  </a:txBody>
                  <a:tcPr marT="91425" marB="91425" marR="91425" marL="91425"/>
                </a:tc>
                <a:tc>
                  <a:txBody>
                    <a:bodyPr/>
                    <a:lstStyle/>
                    <a:p>
                      <a:pPr indent="0" lvl="0" marL="0" rtl="0" algn="l">
                        <a:spcBef>
                          <a:spcPts val="0"/>
                        </a:spcBef>
                        <a:spcAft>
                          <a:spcPts val="0"/>
                        </a:spcAft>
                        <a:buNone/>
                      </a:pPr>
                      <a:r>
                        <a:rPr lang="ru" sz="900"/>
                        <a:t>Это резко снижает сопоставимость с остальной группой и с эталоном</a:t>
                      </a:r>
                      <a:endParaRPr sz="900"/>
                    </a:p>
                  </a:txBody>
                  <a:tcPr marT="91425" marB="91425" marR="91425" marL="91425"/>
                </a:tc>
              </a:tr>
              <a:tr h="381000">
                <a:tc>
                  <a:txBody>
                    <a:bodyPr/>
                    <a:lstStyle/>
                    <a:p>
                      <a:pPr indent="0" lvl="0" marL="0" rtl="0" algn="l">
                        <a:spcBef>
                          <a:spcPts val="0"/>
                        </a:spcBef>
                        <a:spcAft>
                          <a:spcPts val="0"/>
                        </a:spcAft>
                        <a:buNone/>
                      </a:pPr>
                      <a:r>
                        <a:rPr lang="ru" sz="1000"/>
                        <a:t>ADD+k давал последовательность: stressor → sensitive component → architectural decision → next iteration</a:t>
                      </a:r>
                      <a:endParaRPr sz="1000"/>
                    </a:p>
                  </a:txBody>
                  <a:tcPr marT="91425" marB="91425" marR="91425" marL="91425"/>
                </a:tc>
                <a:tc>
                  <a:txBody>
                    <a:bodyPr/>
                    <a:lstStyle/>
                    <a:p>
                      <a:pPr indent="0" lvl="0" marL="0" rtl="0" algn="l">
                        <a:spcBef>
                          <a:spcPts val="0"/>
                        </a:spcBef>
                        <a:spcAft>
                          <a:spcPts val="0"/>
                        </a:spcAft>
                        <a:buNone/>
                      </a:pPr>
                      <a:r>
                        <a:rPr lang="ru"/>
                        <a:t>5 из 12</a:t>
                      </a:r>
                      <a:endParaRPr/>
                    </a:p>
                  </a:txBody>
                  <a:tcPr marT="91425" marB="91425" marR="91425" marL="91425"/>
                </a:tc>
                <a:tc>
                  <a:txBody>
                    <a:bodyPr/>
                    <a:lstStyle/>
                    <a:p>
                      <a:pPr indent="0" lvl="0" marL="0" rtl="0" algn="l">
                        <a:spcBef>
                          <a:spcPts val="0"/>
                        </a:spcBef>
                        <a:spcAft>
                          <a:spcPts val="0"/>
                        </a:spcAft>
                        <a:buNone/>
                      </a:pPr>
                      <a:r>
                        <a:rPr lang="ru" sz="900"/>
                        <a:t>Метод работал как усилитель архитектурного мышления</a:t>
                      </a:r>
                      <a:endParaRPr sz="900"/>
                    </a:p>
                  </a:txBody>
                  <a:tcPr marT="91425" marB="91425" marR="91425" marL="91425"/>
                </a:tc>
              </a:tr>
              <a:tr h="100000">
                <a:tc>
                  <a:txBody>
                    <a:bodyPr/>
                    <a:lstStyle/>
                    <a:p>
                      <a:pPr indent="0" lvl="0" marL="0" rtl="0" algn="l">
                        <a:spcBef>
                          <a:spcPts val="0"/>
                        </a:spcBef>
                        <a:spcAft>
                          <a:spcPts val="0"/>
                        </a:spcAft>
                        <a:buNone/>
                      </a:pPr>
                      <a:r>
                        <a:rPr lang="ru" sz="1000"/>
                        <a:t>матрица фиксировала проблемы, но не приводила к соразмерному архитектурному решению в следующей итераци</a:t>
                      </a:r>
                      <a:endParaRPr sz="1000"/>
                    </a:p>
                  </a:txBody>
                  <a:tcPr marT="91425" marB="91425" marR="91425" marL="91425"/>
                </a:tc>
                <a:tc>
                  <a:txBody>
                    <a:bodyPr/>
                    <a:lstStyle/>
                    <a:p>
                      <a:pPr indent="0" lvl="0" marL="0" rtl="0" algn="l">
                        <a:spcBef>
                          <a:spcPts val="0"/>
                        </a:spcBef>
                        <a:spcAft>
                          <a:spcPts val="0"/>
                        </a:spcAft>
                        <a:buNone/>
                      </a:pPr>
                      <a:r>
                        <a:rPr lang="ru"/>
                        <a:t>4 из 12</a:t>
                      </a:r>
                      <a:endParaRPr/>
                    </a:p>
                  </a:txBody>
                  <a:tcPr marT="91425" marB="91425" marR="91425" marL="91425"/>
                </a:tc>
                <a:tc>
                  <a:txBody>
                    <a:bodyPr/>
                    <a:lstStyle/>
                    <a:p>
                      <a:pPr indent="0" lvl="0" marL="0" rtl="0" algn="l">
                        <a:spcBef>
                          <a:spcPts val="0"/>
                        </a:spcBef>
                        <a:spcAft>
                          <a:spcPts val="0"/>
                        </a:spcAft>
                        <a:buNone/>
                      </a:pPr>
                      <a:r>
                        <a:rPr lang="ru" sz="900"/>
                        <a:t>Метод становился диагностическим, но не проектным инструментом</a:t>
                      </a:r>
                      <a:endParaRPr sz="900"/>
                    </a:p>
                  </a:txBody>
                  <a:tcPr marT="91425" marB="91425" marR="91425" marL="91425"/>
                </a:tc>
              </a:tr>
            </a:tbl>
          </a:graphicData>
        </a:graphic>
      </p:graphicFrame>
      <p:graphicFrame>
        <p:nvGraphicFramePr>
          <p:cNvPr id="261" name="Google Shape;261;p44"/>
          <p:cNvGraphicFramePr/>
          <p:nvPr/>
        </p:nvGraphicFramePr>
        <p:xfrm>
          <a:off x="457200" y="457200"/>
          <a:ext cx="3000000" cy="3000000"/>
        </p:xfrm>
        <a:graphic>
          <a:graphicData uri="http://schemas.openxmlformats.org/drawingml/2006/table">
            <a:tbl>
              <a:tblPr>
                <a:noFill/>
                <a:tableStyleId>{EBF06619-F15E-40E2-84F3-F13DFC7912E8}</a:tableStyleId>
              </a:tblPr>
              <a:tblGrid>
                <a:gridCol w="705290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62" name="Google Shape;262;p44"/>
          <p:cNvGraphicFramePr/>
          <p:nvPr/>
        </p:nvGraphicFramePr>
        <p:xfrm>
          <a:off x="381000" y="64800"/>
          <a:ext cx="3000000" cy="3000000"/>
        </p:xfrm>
        <a:graphic>
          <a:graphicData uri="http://schemas.openxmlformats.org/drawingml/2006/table">
            <a:tbl>
              <a:tblPr>
                <a:noFill/>
                <a:tableStyleId>{EBF06619-F15E-40E2-84F3-F13DFC7912E8}</a:tableStyleId>
              </a:tblPr>
              <a:tblGrid>
                <a:gridCol w="8382000"/>
              </a:tblGrid>
              <a:tr h="260525">
                <a:tc>
                  <a:txBody>
                    <a:bodyPr/>
                    <a:lstStyle/>
                    <a:p>
                      <a:pPr indent="0" lvl="0" marL="0" rtl="0" algn="l">
                        <a:spcBef>
                          <a:spcPts val="0"/>
                        </a:spcBef>
                        <a:spcAft>
                          <a:spcPts val="0"/>
                        </a:spcAft>
                        <a:buNone/>
                      </a:pPr>
                      <a:r>
                        <a:rPr b="1" lang="ru">
                          <a:solidFill>
                            <a:srgbClr val="38761D"/>
                          </a:solidFill>
                        </a:rPr>
                        <a:t>Причина разброса ADD+k</a:t>
                      </a:r>
                      <a:endParaRPr b="1">
                        <a:solidFill>
                          <a:srgbClr val="38761D"/>
                        </a:solidFill>
                      </a:endParaRPr>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Вывод:</a:t>
            </a:r>
            <a:endParaRPr/>
          </a:p>
        </p:txBody>
      </p:sp>
      <p:sp>
        <p:nvSpPr>
          <p:cNvPr id="268" name="Google Shape;268;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lnSpc>
                <a:spcPct val="105000"/>
              </a:lnSpc>
              <a:spcBef>
                <a:spcPts val="0"/>
              </a:spcBef>
              <a:spcAft>
                <a:spcPts val="1200"/>
              </a:spcAft>
              <a:buSzPts val="935"/>
              <a:buNone/>
            </a:pPr>
            <a:r>
              <a:rPr lang="ru" sz="1300"/>
              <a:t>Разброс появился потому, что студенты по-разному применяли сам измерительный механизм: у 7 из 12 матрица действительно вела к следующему архитектурному решению, но только у 5 из 12 была полная цепочка «стрессор → чувствительный компонент → решение → следующая итерация». При этом у 6 из 12 были методические проблемы с матрицей или индексом. Значит, ADD+k дал не просто “другие решения”, а разную степень дисциплины в обосновании этих решений.</a:t>
            </a:r>
            <a:br>
              <a:rPr lang="ru" sz="1300"/>
            </a:br>
            <a:r>
              <a:rPr b="1" lang="ru" sz="1300">
                <a:solidFill>
                  <a:srgbClr val="38761D"/>
                </a:solidFill>
              </a:rPr>
              <a:t>ADD+k оказался более чувствителен к тому, как студент понимает связь между риском, архитектурным решением и следующей итерацией</a:t>
            </a:r>
            <a:r>
              <a:rPr lang="ru" sz="1300">
                <a:solidFill>
                  <a:srgbClr val="38761D"/>
                </a:solidFill>
              </a:rPr>
              <a:t>.</a:t>
            </a:r>
            <a:br>
              <a:rPr lang="ru" sz="1300">
                <a:solidFill>
                  <a:srgbClr val="38761D"/>
                </a:solidFill>
              </a:rPr>
            </a:br>
            <a:r>
              <a:rPr b="1" lang="ru" sz="1300">
                <a:solidFill>
                  <a:srgbClr val="38761D"/>
                </a:solidFill>
              </a:rPr>
              <a:t>Часть студентов использовала матрицу как проектный инструмент, а часть  как отчётный артефакт. У части сдутентов матрица выглядела как преждевременное или несоразмерное усиление отдельного компонента. В будущем задании нужно явно указать: каждый значимый отрицательный или спорный эффект в матрице должен быть связан с архитектурным решением в следующей итерации. Студент может выбрать любой релевантный риск, но обязан показать цепочку: какой риск выявлен, почему он важен для quality attribute, какой компонент оказался чувствительным, какое решение принято, где это решение появилось на диаграмме, и как оно изменило остаточный риск</a:t>
            </a:r>
            <a:endParaRPr b="1" sz="1300">
              <a:solidFill>
                <a:srgbClr val="38761D"/>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500"/>
              <a:t>С точки зрения статистики нужно контролировать не архитектурную свободу студентов, а </a:t>
            </a:r>
            <a:r>
              <a:rPr b="1" lang="ru" sz="1500"/>
              <a:t>источники вариативности, которые могут исказить сравнение ADD и ADD+k</a:t>
            </a:r>
            <a:endParaRPr sz="3200"/>
          </a:p>
        </p:txBody>
      </p:sp>
      <p:sp>
        <p:nvSpPr>
          <p:cNvPr id="274" name="Google Shape;27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t/>
            </a:r>
            <a:endParaRPr sz="1700">
              <a:solidFill>
                <a:schemeClr val="dk1"/>
              </a:solidFill>
            </a:endParaRPr>
          </a:p>
          <a:p>
            <a:pPr indent="-336550" lvl="0" marL="457200" rtl="0" algn="l">
              <a:spcBef>
                <a:spcPts val="1200"/>
              </a:spcBef>
              <a:spcAft>
                <a:spcPts val="0"/>
              </a:spcAft>
              <a:buClr>
                <a:schemeClr val="dk1"/>
              </a:buClr>
              <a:buSzPts val="1700"/>
              <a:buAutoNum type="arabicPeriod"/>
            </a:pPr>
            <a:r>
              <a:rPr b="1" lang="ru" sz="1700">
                <a:solidFill>
                  <a:schemeClr val="dk1"/>
                </a:solidFill>
              </a:rPr>
              <a:t>Контролировать начальный уровень участников. </a:t>
            </a:r>
            <a:r>
              <a:rPr lang="ru" sz="1700">
                <a:solidFill>
                  <a:schemeClr val="dk1"/>
                </a:solidFill>
              </a:rPr>
              <a:t>можно будет проверить: ADD+k дал разброс сам по себе или просто сильные студенты лучше воспользовались дополнительным инструментом</a:t>
            </a:r>
            <a:r>
              <a:rPr b="1" lang="ru" sz="1700">
                <a:solidFill>
                  <a:schemeClr val="dk1"/>
                </a:solidFill>
              </a:rPr>
              <a:t>.</a:t>
            </a:r>
            <a:endParaRPr b="1" sz="1700">
              <a:solidFill>
                <a:schemeClr val="dk1"/>
              </a:solidFill>
            </a:endParaRPr>
          </a:p>
          <a:p>
            <a:pPr indent="-336550" lvl="0" marL="457200" rtl="0" algn="l">
              <a:spcBef>
                <a:spcPts val="0"/>
              </a:spcBef>
              <a:spcAft>
                <a:spcPts val="0"/>
              </a:spcAft>
              <a:buClr>
                <a:schemeClr val="dk1"/>
              </a:buClr>
              <a:buSzPts val="1700"/>
              <a:buAutoNum type="arabicPeriod"/>
            </a:pPr>
            <a:r>
              <a:rPr b="1" lang="ru" sz="1700">
                <a:solidFill>
                  <a:schemeClr val="dk1"/>
                </a:solidFill>
              </a:rPr>
              <a:t>Контролировать качество применения метода как отдельную переменную. </a:t>
            </a:r>
            <a:r>
              <a:rPr lang="ru" sz="1700">
                <a:solidFill>
                  <a:schemeClr val="dk1"/>
                </a:solidFill>
              </a:rPr>
              <a:t>Сейчас результат смешивает два эффекта: качество архитектуры и качество использования матрицы</a:t>
            </a:r>
            <a:endParaRPr sz="1700">
              <a:solidFill>
                <a:schemeClr val="dk1"/>
              </a:solidFill>
            </a:endParaRPr>
          </a:p>
          <a:p>
            <a:pPr indent="-336550" lvl="0" marL="457200" rtl="0" algn="l">
              <a:spcBef>
                <a:spcPts val="0"/>
              </a:spcBef>
              <a:spcAft>
                <a:spcPts val="0"/>
              </a:spcAft>
              <a:buClr>
                <a:schemeClr val="dk1"/>
              </a:buClr>
              <a:buSzPts val="1700"/>
              <a:buAutoNum type="arabicPeriod"/>
            </a:pPr>
            <a:r>
              <a:rPr b="1" lang="ru" sz="1700">
                <a:solidFill>
                  <a:schemeClr val="dk1"/>
                </a:solidFill>
              </a:rPr>
              <a:t>Контролировать экспертную субъективность оценки. </a:t>
            </a:r>
            <a:r>
              <a:rPr lang="ru" sz="1700">
                <a:solidFill>
                  <a:schemeClr val="dk1"/>
                </a:solidFill>
              </a:rPr>
              <a:t>Если архитектуры оценивает один эксперт, в данные попадает субъективность проверяющего.</a:t>
            </a:r>
            <a:endParaRPr sz="1700">
              <a:solidFill>
                <a:schemeClr val="dk1"/>
              </a:solidFill>
            </a:endParaRPr>
          </a:p>
          <a:p>
            <a:pPr indent="0" lvl="0" marL="457200" rtl="0" algn="l">
              <a:lnSpc>
                <a:spcPct val="105000"/>
              </a:lnSpc>
              <a:spcBef>
                <a:spcPts val="1200"/>
              </a:spcBef>
              <a:spcAft>
                <a:spcPts val="1200"/>
              </a:spcAft>
              <a:buSzPts val="935"/>
              <a:buNone/>
            </a:pPr>
            <a:r>
              <a:t/>
            </a:r>
            <a:endParaRPr sz="13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